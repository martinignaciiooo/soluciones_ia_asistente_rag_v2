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f7aac8b0-9305-da98-362d-819f9e660316}">
          <p14:sldIdLst>
            <p14:sldId id="256"/>
          </p14:sldIdLst>
        </p14:section>
        <p14:section name="Solución" id="{33839700-17b4-2e7b-d630-c961e2d0a731}">
          <p14:sldIdLst>
            <p14:sldId id="257"/>
            <p14:sldId id="258"/>
            <p14:sldId id="259"/>
          </p14:sldIdLst>
        </p14:section>
        <p14:section name="Cierre" id="{5b499754-f74c-bcdd-aee9-86006bb76982}">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0:00–0:35. Martín. Presentar el problema y el alcance informativo. El escenario de la EP1 es simulado. No afirmar que se midió demanda real. Fuente: informe EP1 y corpus del proyecto. Declaración: material descriptivo preparado con asistencia de ChatGPT y sujeto a revisión del autor.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0:35–1:35. Martín. Describir el ciclo: el modelo recibe esquemas y propone tool_calls; el código valida argumentos y ejecuta sólo funciones registradas, y cada resultado vuelve al modelo como observación. Cuatro tools: buscar_normativa (BM25 + embeddings con RRF), evaluar_plazo, guardar_borrador y recuperar_borradores (artefactos persistidos, no chat eliminado). Por qué así (sección 12 del informe): Neon para que la memoria sobreviva a los reinicios de Colab; LangGraph para manejar ciclos de evaluación y validación de herramientas; OpenRouter porque no hay GPU para modelos locales. Fuentes: src/agent.py; src/long_term.py; storage.py; retrieval.py; https://docs.langchain.com/oss/python/langgraph/graph-api ; https://openrouter.ai/docs/guides/features/tool-calling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1:35–2:20. Martín. Corto plazo: ConversationBufferWindowMemory real con k=5; PostgreSQL elimina los intercambios anteriores a cinco. Largo plazo: borradores persistidos, recuperados por similitud de embeddings a petición. Hasta dos resultados entre los veinte últimos de la misma conversación, umbral 0,38 pendiente de calibración con ensayos reales. Las referencias BORRADOR no son normativa. No se recupera historial borrado. Cota adicional: 24000 bytes por petición; se omiten pares históricos completos si hace falta. GPT Luna mantiene effort low, máximo 1000 tokens de salida y cero reintentos. La base comparte el registro de coste y reservas, pero no conoce usos externos de la clave. Fuentes: src/storage.py, long_term.py, provider.py; https://docs.langchain.com/oss/python/concepts/memory ; https://openrouter.ai/docs/guides/best-practices/reasoning-tokens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2:20–4:20. Martín. Abrir el notebook ya preparado. Fecha simulada 2026-04-06. Ejecutar la consulta de retiro y mostrar citas, traza y borrador guardado (plazo vigente hasta el 10-04-2026). Si alcanza el tiempo, cambiar al 2026-04-11 para mostrar plazo vencido, u ofrecer recuperar el borrador anterior. Contexto: el primer ensayo real ejecutó tres llamadas y guardó el borrador, pero falló el cierre por citas; la corrección (_answer_from_saved_draft) tiene regresión automática y en el ensayo final en Colab una consulta de convalidación respondió con cita literal validada, el borrador de retiro quedó persistido en Neon y el agente se abstuvo correctamente fuera del manual (docs/evidencias/ejecuciones). Para la demo usar la consulta completa que pide el borrador: si el modelo no copia la cita exacta, la respuesta se reconstruye desde el borrador y el calendario validados. Si se usa evidencia de respaldo, identificarla como ejecución anterior. No mostrar secretos. Guardar ensayos con «Descargar evidencia». Fuente: data/interna/calendario_academico.md.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4:20–5:00. Martín. Conclusiones y aprendizajes (texto completo para decir):
Qué pudimos comprobar: Persistencia y poda de 10 mensajes (k=5) en Neon, control de presupuesto y 78 pruebas locales. En ensayo real: ejecución de 3 llamadas y guardado de borrador.
Qué límite sigue pendiente: Tope de 24.000 bytes UTF-8 por solicitud: recorta turnos antiguos del payload (aunque sigan en los 10 mensajes de PostgreSQL) para priorizar el turno actual y las tools. Evaluación acotada por presupuesto: el tope compartido de USD 0,75 permite validar casos reales puntuales, pero limita pruebas masivas con llamadas pagadas. Alcance de prototipo: anonimización básica por patrones (sin autenticación real ni conexión a sistemas curriculares en vivo).
Aprendizajes y aporte personal: Integración de persistencia en Neon, compatibilidad con OpenRouter (effort=low sin parallel_tool_calls) y auditoría de trazas reales para reconstruir respuestas con evidencia validada sin llamadas extra.
Evidencia: docs/evidencias/prueba_neon_real.json y tests/test_manual_y_respuesta.py.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para los dos minutos de preguntas. Evidencia: docs/evidencias/salida_pruebas_postgresql.txt (78 aprobadas); salida_pruebas.txt (73 aprobadas, 5 omitidas sin TEST_DATABASE_URL); prueba_neon_real.json (SQL Neon); manual_ep1_verificado.json (cuatro documentos originales). El SDK simulado no demuestra calidad semántica por sí solo; el ensayo real final en Colab (docs/evidencias/prueba_base_datos.json y ejecuciones/) confirma k=5 con 10 mensajes, persistencia y borrado en Neon, una consulta real de convalidación con tres llamadas y cita literal validada (respuesta_llm_citada), abstención correcta ante consultas fuera del manual o sin cita válida ni borrador, y el borrador de retiro con plazo 10-04-2026 y dos citas persistido en la conversación.
Tools: el modelo propone llamadas según descripciones y esquemas JSON de tools tipadas de LangChain; el código valida argumentos y ejecuta sólo funciones registradas. Máximo cuatro llamadas de chat y seis herramientas por turno.
Contexto: cada solicitud se limita a 24.000 bytes UTF-8 de mensajes y esquemas. Si se supera, se omiten intercambios históricos completos de esa petición y se conserva el turno actual; si el turno actual excede la cota, se detiene el envío.
Historial: ConversationBufferWindowMemory con k=5 persistida en asistentereg.turns (Neon); cada guardado borra con DELETE lo anterior a los últimos 5 intercambios. No se resume ni se recupera lo borrado. El largo plazo sólo guarda borradores: compara hasta veinte y devuelve hasta dos con similitud ≥0,38.
Servidor remoto: no implementado. El diseño admite adaptadores HTTP o MCP con contratos JSON, autenticación, autorización, timeout e idempotencia.
Otros límites: la anonimización cubre formatos conocidos (RUT, correo, teléfono, matrícula), no todos los datos personales; no hay autenticación de usuarios; validar una cita comprueba trazabilidad, no la veracidad de cada frase. Más detalle en docs/demo_y_defensa.md.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2343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AsistenteReg EP2 · Martín Peña</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_OSCURO">
    <p:bg>
      <p:bgPr>
        <a:solidFill>
          <a:srgbClr val="123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AsistenteReg EP2 · Martín Peña</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A8A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tiqueta"/>
          <p:cNvSpPr txBox="1"/>
          <p:nvPr/>
        </p:nvSpPr>
        <p:spPr>
          <a:xfrm>
            <a:off x="640080" y="594360"/>
            <a:ext cx="5943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ISY0101 · EVALUACIÓN PARCIAL 2</a:t>
            </a:r>
            <a:endParaRPr lang="en-US" sz="1400" dirty="0"/>
          </a:p>
        </p:txBody>
      </p:sp>
      <p:sp>
        <p:nvSpPr>
          <p:cNvPr id="3" name="titulo"/>
          <p:cNvSpPr txBox="1"/>
          <p:nvPr/>
        </p:nvSpPr>
        <p:spPr>
          <a:xfrm>
            <a:off x="640080" y="1051560"/>
            <a:ext cx="6217920" cy="100584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AsistenteReg</a:t>
            </a:r>
            <a:endParaRPr lang="en-US" sz="5400" dirty="0"/>
          </a:p>
        </p:txBody>
      </p:sp>
      <p:sp>
        <p:nvSpPr>
          <p:cNvPr id="4" name="subtitulo"/>
          <p:cNvSpPr txBox="1"/>
          <p:nvPr/>
        </p:nvSpPr>
        <p:spPr>
          <a:xfrm>
            <a:off x="640080" y="2103120"/>
            <a:ext cx="5852160" cy="822960"/>
          </a:xfrm>
          <a:prstGeom prst="rect">
            <a:avLst/>
          </a:prstGeom>
          <a:noFill/>
          <a:ln/>
        </p:spPr>
        <p:txBody>
          <a:bodyPr wrap="square" lIns="0" tIns="0" rIns="0" bIns="0" rtlCol="0" anchor="ctr"/>
          <a:lstStyle/>
          <a:p>
            <a:pPr indent="0" marL="0">
              <a:buNone/>
            </a:pPr>
            <a:r>
              <a:rPr lang="en-US" sz="2200" dirty="0">
                <a:solidFill>
                  <a:schemeClr val="bg2"/>
                </a:solidFill>
              </a:rPr>
              <a:t>Agente con IA para consultas de Registro Curricular</a:t>
            </a:r>
            <a:endParaRPr lang="en-US" sz="2200" dirty="0"/>
          </a:p>
        </p:txBody>
      </p:sp>
      <p:sp>
        <p:nvSpPr>
          <p:cNvPr id="5" name="problema"/>
          <p:cNvSpPr txBox="1"/>
          <p:nvPr/>
        </p:nvSpPr>
        <p:spPr>
          <a:xfrm>
            <a:off x="640080" y="3246120"/>
            <a:ext cx="5669280" cy="123444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El problema</a:t>
            </a:r>
            <a:endParaRPr lang="en-US" sz="1500" dirty="0"/>
          </a:p>
          <a:p>
            <a:pPr indent="0" marL="0">
              <a:spcAft>
                <a:spcPts val="400"/>
              </a:spcAft>
              <a:buNone/>
            </a:pPr>
            <a:r>
              <a:rPr lang="en-US" sz="1600" dirty="0">
                <a:solidFill>
                  <a:schemeClr val="bg1"/>
                </a:solidFill>
              </a:rPr>
              <a:t>La información está repartida entre reglamento, calendario y preguntas frecuentes: una sola consulta exige revisar varias fuentes.</a:t>
            </a:r>
            <a:endParaRPr lang="en-US" sz="1500" dirty="0"/>
          </a:p>
        </p:txBody>
      </p:sp>
      <p:sp>
        <p:nvSpPr>
          <p:cNvPr id="6" name="caso"/>
          <p:cNvSpPr txBox="1"/>
          <p:nvPr/>
        </p:nvSpPr>
        <p:spPr>
          <a:xfrm>
            <a:off x="640080" y="4572000"/>
            <a:ext cx="5669280" cy="320040"/>
          </a:xfrm>
          <a:prstGeom prst="rect">
            <a:avLst/>
          </a:prstGeom>
          <a:noFill/>
          <a:ln/>
        </p:spPr>
        <p:txBody>
          <a:bodyPr wrap="square" lIns="0" tIns="0" rIns="0" bIns="0" rtlCol="0" anchor="ctr"/>
          <a:lstStyle/>
          <a:p>
            <a:pPr indent="0" marL="0">
              <a:buNone/>
            </a:pPr>
            <a:r>
              <a:rPr lang="en-US" sz="1200" i="1" dirty="0">
                <a:solidFill>
                  <a:schemeClr val="accent5"/>
                </a:solidFill>
              </a:rPr>
              <a:t>Caso simulado de la EP1 · semestre 2026-01</a:t>
            </a:r>
            <a:endParaRPr lang="en-US" sz="1200" dirty="0"/>
          </a:p>
        </p:txBody>
      </p:sp>
      <p:sp>
        <p:nvSpPr>
          <p:cNvPr id="7" name="autor"/>
          <p:cNvSpPr txBox="1"/>
          <p:nvPr/>
        </p:nvSpPr>
        <p:spPr>
          <a:xfrm>
            <a:off x="640080" y="5532120"/>
            <a:ext cx="5486400" cy="731520"/>
          </a:xfrm>
          <a:prstGeom prst="rect">
            <a:avLst/>
          </a:prstGeom>
          <a:noFill/>
          <a:ln/>
        </p:spPr>
        <p:txBody>
          <a:bodyPr wrap="square" lIns="0" tIns="0" rIns="0" bIns="0" rtlCol="0" anchor="ctr"/>
          <a:lstStyle/>
          <a:p>
            <a:pPr indent="0" marL="0">
              <a:buNone/>
            </a:pPr>
            <a:r>
              <a:rPr lang="en-US" sz="1800" b="1" dirty="0">
                <a:solidFill>
                  <a:schemeClr val="bg1"/>
                </a:solidFill>
              </a:rPr>
              <a:t>Martín Peña</a:t>
            </a:r>
            <a:endParaRPr lang="en-US" sz="1800" dirty="0"/>
          </a:p>
          <a:p>
            <a:pPr indent="0" marL="0">
              <a:buNone/>
            </a:pPr>
            <a:r>
              <a:rPr lang="en-US" sz="1200" dirty="0">
                <a:solidFill>
                  <a:schemeClr val="accent5"/>
                </a:solidFill>
              </a:rPr>
              <a:t>Ingeniería de Soluciones con IA</a:t>
            </a:r>
            <a:endParaRPr lang="en-US" sz="1800" dirty="0"/>
          </a:p>
        </p:txBody>
      </p:sp>
      <p:sp>
        <p:nvSpPr>
          <p:cNvPr id="8" name="fuente-1"/>
          <p:cNvSpPr/>
          <p:nvPr/>
        </p:nvSpPr>
        <p:spPr>
          <a:xfrm>
            <a:off x="7086600" y="1143000"/>
            <a:ext cx="2651760" cy="713232"/>
          </a:xfrm>
          <a:prstGeom prst="roundRect">
            <a:avLst>
              <a:gd name="adj" fmla="val 12821"/>
            </a:avLst>
          </a:prstGeom>
          <a:solidFill>
            <a:srgbClr val="FFFFFF">
              <a:alpha val="12000"/>
            </a:srgbClr>
          </a:solidFill>
          <a:ln/>
        </p:spPr>
      </p:sp>
      <p:sp>
        <p:nvSpPr>
          <p:cNvPr id="9" name="fuente-1-circulo"/>
          <p:cNvSpPr/>
          <p:nvPr/>
        </p:nvSpPr>
        <p:spPr>
          <a:xfrm>
            <a:off x="7205472" y="1252728"/>
            <a:ext cx="493776" cy="493776"/>
          </a:xfrm>
          <a:prstGeom prst="ellipse">
            <a:avLst/>
          </a:prstGeom>
          <a:solidFill>
            <a:srgbClr val="1F6F6B"/>
          </a:solidFill>
          <a:ln/>
        </p:spPr>
      </p:sp>
      <p:pic>
        <p:nvPicPr>
          <p:cNvPr id="10" name="fuente-1-icono" descr="preencoded.png">    </p:cNvPr>
          <p:cNvPicPr>
            <a:picLocks noChangeAspect="1"/>
          </p:cNvPicPr>
          <p:nvPr/>
        </p:nvPicPr>
        <p:blipFill>
          <a:blip r:embed="rId1"/>
          <a:stretch>
            <a:fillRect/>
          </a:stretch>
        </p:blipFill>
        <p:spPr>
          <a:xfrm>
            <a:off x="7314103" y="1361359"/>
            <a:ext cx="276515" cy="276515"/>
          </a:xfrm>
          <a:prstGeom prst="rect">
            <a:avLst/>
          </a:prstGeom>
        </p:spPr>
      </p:pic>
      <p:sp>
        <p:nvSpPr>
          <p:cNvPr id="11" name="fuente-1-texto"/>
          <p:cNvSpPr txBox="1"/>
          <p:nvPr/>
        </p:nvSpPr>
        <p:spPr>
          <a:xfrm>
            <a:off x="7818120" y="1143000"/>
            <a:ext cx="1874520" cy="713232"/>
          </a:xfrm>
          <a:prstGeom prst="rect">
            <a:avLst/>
          </a:prstGeom>
          <a:noFill/>
          <a:ln/>
        </p:spPr>
        <p:txBody>
          <a:bodyPr wrap="square" lIns="0" tIns="0" rIns="0" bIns="0" rtlCol="0" anchor="ctr"/>
          <a:lstStyle/>
          <a:p>
            <a:pPr indent="0" marL="0">
              <a:buNone/>
            </a:pPr>
            <a:r>
              <a:rPr lang="en-US" sz="1400" dirty="0">
                <a:solidFill>
                  <a:schemeClr val="bg1"/>
                </a:solidFill>
              </a:rPr>
              <a:t>Reglamento académico</a:t>
            </a:r>
            <a:endParaRPr lang="en-US" sz="1400" dirty="0"/>
          </a:p>
        </p:txBody>
      </p:sp>
      <p:sp>
        <p:nvSpPr>
          <p:cNvPr id="12" name="flecha-1"/>
          <p:cNvSpPr/>
          <p:nvPr/>
        </p:nvSpPr>
        <p:spPr>
          <a:xfrm>
            <a:off x="9829800" y="1499616"/>
            <a:ext cx="292608" cy="0"/>
          </a:xfrm>
          <a:prstGeom prst="line">
            <a:avLst/>
          </a:prstGeom>
          <a:noFill/>
          <a:ln w="25400">
            <a:solidFill>
              <a:srgbClr val="7FA8A3"/>
            </a:solidFill>
            <a:prstDash val="solid"/>
            <a:tailEnd type="triangle"/>
          </a:ln>
        </p:spPr>
      </p:sp>
      <p:sp>
        <p:nvSpPr>
          <p:cNvPr id="13" name="fuente-2"/>
          <p:cNvSpPr/>
          <p:nvPr/>
        </p:nvSpPr>
        <p:spPr>
          <a:xfrm>
            <a:off x="7086600" y="2057400"/>
            <a:ext cx="2651760" cy="713232"/>
          </a:xfrm>
          <a:prstGeom prst="roundRect">
            <a:avLst>
              <a:gd name="adj" fmla="val 12821"/>
            </a:avLst>
          </a:prstGeom>
          <a:solidFill>
            <a:srgbClr val="FFFFFF">
              <a:alpha val="12000"/>
            </a:srgbClr>
          </a:solidFill>
          <a:ln/>
        </p:spPr>
      </p:sp>
      <p:sp>
        <p:nvSpPr>
          <p:cNvPr id="14" name="fuente-2-circulo"/>
          <p:cNvSpPr/>
          <p:nvPr/>
        </p:nvSpPr>
        <p:spPr>
          <a:xfrm>
            <a:off x="7205472" y="2167128"/>
            <a:ext cx="493776" cy="493776"/>
          </a:xfrm>
          <a:prstGeom prst="ellipse">
            <a:avLst/>
          </a:prstGeom>
          <a:solidFill>
            <a:srgbClr val="1F6F6B"/>
          </a:solidFill>
          <a:ln/>
        </p:spPr>
      </p:sp>
      <p:pic>
        <p:nvPicPr>
          <p:cNvPr id="15" name="fuente-2-icono" descr="preencoded.png">    </p:cNvPr>
          <p:cNvPicPr>
            <a:picLocks noChangeAspect="1"/>
          </p:cNvPicPr>
          <p:nvPr/>
        </p:nvPicPr>
        <p:blipFill>
          <a:blip r:embed="rId2"/>
          <a:stretch>
            <a:fillRect/>
          </a:stretch>
        </p:blipFill>
        <p:spPr>
          <a:xfrm>
            <a:off x="7314103" y="2275759"/>
            <a:ext cx="276515" cy="276515"/>
          </a:xfrm>
          <a:prstGeom prst="rect">
            <a:avLst/>
          </a:prstGeom>
        </p:spPr>
      </p:pic>
      <p:sp>
        <p:nvSpPr>
          <p:cNvPr id="16" name="fuente-2-texto"/>
          <p:cNvSpPr txBox="1"/>
          <p:nvPr/>
        </p:nvSpPr>
        <p:spPr>
          <a:xfrm>
            <a:off x="7818120" y="2057400"/>
            <a:ext cx="1874520" cy="713232"/>
          </a:xfrm>
          <a:prstGeom prst="rect">
            <a:avLst/>
          </a:prstGeom>
          <a:noFill/>
          <a:ln/>
        </p:spPr>
        <p:txBody>
          <a:bodyPr wrap="square" lIns="0" tIns="0" rIns="0" bIns="0" rtlCol="0" anchor="ctr"/>
          <a:lstStyle/>
          <a:p>
            <a:pPr indent="0" marL="0">
              <a:buNone/>
            </a:pPr>
            <a:r>
              <a:rPr lang="en-US" sz="1400" dirty="0">
                <a:solidFill>
                  <a:schemeClr val="bg1"/>
                </a:solidFill>
              </a:rPr>
              <a:t>Calendario 2026-01</a:t>
            </a:r>
            <a:endParaRPr lang="en-US" sz="1400" dirty="0"/>
          </a:p>
        </p:txBody>
      </p:sp>
      <p:sp>
        <p:nvSpPr>
          <p:cNvPr id="17" name="flecha-2"/>
          <p:cNvSpPr/>
          <p:nvPr/>
        </p:nvSpPr>
        <p:spPr>
          <a:xfrm>
            <a:off x="9829800" y="2414016"/>
            <a:ext cx="292608" cy="0"/>
          </a:xfrm>
          <a:prstGeom prst="line">
            <a:avLst/>
          </a:prstGeom>
          <a:noFill/>
          <a:ln w="25400">
            <a:solidFill>
              <a:srgbClr val="7FA8A3"/>
            </a:solidFill>
            <a:prstDash val="solid"/>
            <a:tailEnd type="triangle"/>
          </a:ln>
        </p:spPr>
      </p:sp>
      <p:sp>
        <p:nvSpPr>
          <p:cNvPr id="18" name="fuente-3"/>
          <p:cNvSpPr/>
          <p:nvPr/>
        </p:nvSpPr>
        <p:spPr>
          <a:xfrm>
            <a:off x="7086600" y="2971800"/>
            <a:ext cx="2651760" cy="713232"/>
          </a:xfrm>
          <a:prstGeom prst="roundRect">
            <a:avLst>
              <a:gd name="adj" fmla="val 12821"/>
            </a:avLst>
          </a:prstGeom>
          <a:solidFill>
            <a:srgbClr val="FFFFFF">
              <a:alpha val="12000"/>
            </a:srgbClr>
          </a:solidFill>
          <a:ln/>
        </p:spPr>
      </p:sp>
      <p:sp>
        <p:nvSpPr>
          <p:cNvPr id="19" name="fuente-3-circulo"/>
          <p:cNvSpPr/>
          <p:nvPr/>
        </p:nvSpPr>
        <p:spPr>
          <a:xfrm>
            <a:off x="7205472" y="3081528"/>
            <a:ext cx="493776" cy="493776"/>
          </a:xfrm>
          <a:prstGeom prst="ellipse">
            <a:avLst/>
          </a:prstGeom>
          <a:solidFill>
            <a:srgbClr val="1F6F6B"/>
          </a:solidFill>
          <a:ln/>
        </p:spPr>
      </p:sp>
      <p:pic>
        <p:nvPicPr>
          <p:cNvPr id="20" name="fuente-3-icono" descr="preencoded.png">    </p:cNvPr>
          <p:cNvPicPr>
            <a:picLocks noChangeAspect="1"/>
          </p:cNvPicPr>
          <p:nvPr/>
        </p:nvPicPr>
        <p:blipFill>
          <a:blip r:embed="rId3"/>
          <a:stretch>
            <a:fillRect/>
          </a:stretch>
        </p:blipFill>
        <p:spPr>
          <a:xfrm>
            <a:off x="7314103" y="3190159"/>
            <a:ext cx="276515" cy="276515"/>
          </a:xfrm>
          <a:prstGeom prst="rect">
            <a:avLst/>
          </a:prstGeom>
        </p:spPr>
      </p:pic>
      <p:sp>
        <p:nvSpPr>
          <p:cNvPr id="21" name="fuente-3-texto"/>
          <p:cNvSpPr txBox="1"/>
          <p:nvPr/>
        </p:nvSpPr>
        <p:spPr>
          <a:xfrm>
            <a:off x="7818120" y="2971800"/>
            <a:ext cx="1874520" cy="713232"/>
          </a:xfrm>
          <a:prstGeom prst="rect">
            <a:avLst/>
          </a:prstGeom>
          <a:noFill/>
          <a:ln/>
        </p:spPr>
        <p:txBody>
          <a:bodyPr wrap="square" lIns="0" tIns="0" rIns="0" bIns="0" rtlCol="0" anchor="ctr"/>
          <a:lstStyle/>
          <a:p>
            <a:pPr indent="0" marL="0">
              <a:buNone/>
            </a:pPr>
            <a:r>
              <a:rPr lang="en-US" sz="1400" dirty="0">
                <a:solidFill>
                  <a:schemeClr val="bg1"/>
                </a:solidFill>
              </a:rPr>
              <a:t>Preguntas frecuentes</a:t>
            </a:r>
            <a:endParaRPr lang="en-US" sz="1400" dirty="0"/>
          </a:p>
        </p:txBody>
      </p:sp>
      <p:sp>
        <p:nvSpPr>
          <p:cNvPr id="22" name="flecha-3"/>
          <p:cNvSpPr/>
          <p:nvPr/>
        </p:nvSpPr>
        <p:spPr>
          <a:xfrm>
            <a:off x="9829800" y="3328416"/>
            <a:ext cx="292608" cy="0"/>
          </a:xfrm>
          <a:prstGeom prst="line">
            <a:avLst/>
          </a:prstGeom>
          <a:noFill/>
          <a:ln w="25400">
            <a:solidFill>
              <a:srgbClr val="7FA8A3"/>
            </a:solidFill>
            <a:prstDash val="solid"/>
            <a:tailEnd type="triangle"/>
          </a:ln>
        </p:spPr>
      </p:sp>
      <p:sp>
        <p:nvSpPr>
          <p:cNvPr id="23" name="fuente-4"/>
          <p:cNvSpPr/>
          <p:nvPr/>
        </p:nvSpPr>
        <p:spPr>
          <a:xfrm>
            <a:off x="7086600" y="3886200"/>
            <a:ext cx="2651760" cy="713232"/>
          </a:xfrm>
          <a:prstGeom prst="roundRect">
            <a:avLst>
              <a:gd name="adj" fmla="val 12821"/>
            </a:avLst>
          </a:prstGeom>
          <a:solidFill>
            <a:srgbClr val="FFFFFF">
              <a:alpha val="12000"/>
            </a:srgbClr>
          </a:solidFill>
          <a:ln/>
        </p:spPr>
      </p:sp>
      <p:sp>
        <p:nvSpPr>
          <p:cNvPr id="24" name="fuente-4-circulo"/>
          <p:cNvSpPr/>
          <p:nvPr/>
        </p:nvSpPr>
        <p:spPr>
          <a:xfrm>
            <a:off x="7205472" y="3995928"/>
            <a:ext cx="493776" cy="493776"/>
          </a:xfrm>
          <a:prstGeom prst="ellipse">
            <a:avLst/>
          </a:prstGeom>
          <a:solidFill>
            <a:srgbClr val="1F6F6B"/>
          </a:solidFill>
          <a:ln/>
        </p:spPr>
      </p:sp>
      <p:pic>
        <p:nvPicPr>
          <p:cNvPr id="25" name="fuente-4-icono" descr="preencoded.png">    </p:cNvPr>
          <p:cNvPicPr>
            <a:picLocks noChangeAspect="1"/>
          </p:cNvPicPr>
          <p:nvPr/>
        </p:nvPicPr>
        <p:blipFill>
          <a:blip r:embed="rId4"/>
          <a:stretch>
            <a:fillRect/>
          </a:stretch>
        </p:blipFill>
        <p:spPr>
          <a:xfrm>
            <a:off x="7314103" y="4104559"/>
            <a:ext cx="276515" cy="276515"/>
          </a:xfrm>
          <a:prstGeom prst="rect">
            <a:avLst/>
          </a:prstGeom>
        </p:spPr>
      </p:pic>
      <p:sp>
        <p:nvSpPr>
          <p:cNvPr id="26" name="fuente-4-texto"/>
          <p:cNvSpPr txBox="1"/>
          <p:nvPr/>
        </p:nvSpPr>
        <p:spPr>
          <a:xfrm>
            <a:off x="7818120" y="3886200"/>
            <a:ext cx="1874520" cy="713232"/>
          </a:xfrm>
          <a:prstGeom prst="rect">
            <a:avLst/>
          </a:prstGeom>
          <a:noFill/>
          <a:ln/>
        </p:spPr>
        <p:txBody>
          <a:bodyPr wrap="square" lIns="0" tIns="0" rIns="0" bIns="0" rtlCol="0" anchor="ctr"/>
          <a:lstStyle/>
          <a:p>
            <a:pPr indent="0" marL="0">
              <a:buNone/>
            </a:pPr>
            <a:r>
              <a:rPr lang="en-US" sz="1400" dirty="0">
                <a:solidFill>
                  <a:schemeClr val="bg1"/>
                </a:solidFill>
              </a:rPr>
              <a:t>Manual de titulación</a:t>
            </a:r>
            <a:endParaRPr lang="en-US" sz="1400" dirty="0"/>
          </a:p>
        </p:txBody>
      </p:sp>
      <p:sp>
        <p:nvSpPr>
          <p:cNvPr id="27" name="flecha-4"/>
          <p:cNvSpPr/>
          <p:nvPr/>
        </p:nvSpPr>
        <p:spPr>
          <a:xfrm>
            <a:off x="9829800" y="4242816"/>
            <a:ext cx="292608" cy="0"/>
          </a:xfrm>
          <a:prstGeom prst="line">
            <a:avLst/>
          </a:prstGeom>
          <a:noFill/>
          <a:ln w="25400">
            <a:solidFill>
              <a:srgbClr val="7FA8A3"/>
            </a:solidFill>
            <a:prstDash val="solid"/>
            <a:tailEnd type="triangle"/>
          </a:ln>
        </p:spPr>
      </p:sp>
      <p:sp>
        <p:nvSpPr>
          <p:cNvPr id="28" name="agente-circulo"/>
          <p:cNvSpPr/>
          <p:nvPr/>
        </p:nvSpPr>
        <p:spPr>
          <a:xfrm>
            <a:off x="10287000" y="1737360"/>
            <a:ext cx="1371600" cy="1371600"/>
          </a:xfrm>
          <a:prstGeom prst="ellipse">
            <a:avLst/>
          </a:prstGeom>
          <a:solidFill>
            <a:srgbClr val="E3A33A"/>
          </a:solidFill>
          <a:ln/>
        </p:spPr>
      </p:sp>
      <p:pic>
        <p:nvPicPr>
          <p:cNvPr id="29" name="agente-icono" descr="preencoded.png">    </p:cNvPr>
          <p:cNvPicPr>
            <a:picLocks noChangeAspect="1"/>
          </p:cNvPicPr>
          <p:nvPr/>
        </p:nvPicPr>
        <p:blipFill>
          <a:blip r:embed="rId5"/>
          <a:stretch>
            <a:fillRect/>
          </a:stretch>
        </p:blipFill>
        <p:spPr>
          <a:xfrm>
            <a:off x="10607040" y="2057400"/>
            <a:ext cx="731520" cy="731520"/>
          </a:xfrm>
          <a:prstGeom prst="rect">
            <a:avLst/>
          </a:prstGeom>
        </p:spPr>
      </p:pic>
      <p:sp>
        <p:nvSpPr>
          <p:cNvPr id="30" name="agente-texto"/>
          <p:cNvSpPr txBox="1"/>
          <p:nvPr/>
        </p:nvSpPr>
        <p:spPr>
          <a:xfrm>
            <a:off x="10241280" y="3246120"/>
            <a:ext cx="1463040" cy="914400"/>
          </a:xfrm>
          <a:prstGeom prst="rect">
            <a:avLst/>
          </a:prstGeom>
          <a:noFill/>
          <a:ln/>
        </p:spPr>
        <p:txBody>
          <a:bodyPr wrap="square" lIns="0" tIns="0" rIns="0" bIns="0" rtlCol="0" anchor="t"/>
          <a:lstStyle/>
          <a:p>
            <a:pPr algn="ctr" indent="0" marL="0">
              <a:buNone/>
            </a:pPr>
            <a:r>
              <a:rPr lang="en-US" sz="1300" dirty="0">
                <a:solidFill>
                  <a:schemeClr val="bg1"/>
                </a:solidFill>
              </a:rPr>
              <a:t>Una respuesta con cita y un borrador para revisión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Arquitectura y orquestación</a:t>
            </a:r>
            <a:endParaRPr lang="en-US" sz="3600" dirty="0"/>
          </a:p>
        </p:txBody>
      </p:sp>
      <p:sp>
        <p:nvSpPr>
          <p:cNvPr id="3" name="paso-1"/>
          <p:cNvSpPr/>
          <p:nvPr/>
        </p:nvSpPr>
        <p:spPr>
          <a:xfrm>
            <a:off x="548640" y="1508760"/>
            <a:ext cx="2423160" cy="1463040"/>
          </a:xfrm>
          <a:prstGeom prst="roundRect">
            <a:avLst>
              <a:gd name="adj" fmla="val 7500"/>
            </a:avLst>
          </a:prstGeom>
          <a:solidFill>
            <a:srgbClr val="E8F1EF"/>
          </a:solidFill>
          <a:ln/>
          <a:effectLst>
            <a:outerShdw sx="100000" sy="100000" kx="0" ky="0" algn="bl" rotWithShape="0" blurRad="76200" dist="25400" dir="5400000">
              <a:srgbClr val="000000">
                <a:alpha val="12000"/>
              </a:srgbClr>
            </a:outerShdw>
          </a:effectLst>
        </p:spPr>
      </p:sp>
      <p:sp>
        <p:nvSpPr>
          <p:cNvPr id="4" name="paso-1-circulo"/>
          <p:cNvSpPr/>
          <p:nvPr/>
        </p:nvSpPr>
        <p:spPr>
          <a:xfrm>
            <a:off x="731520" y="1709928"/>
            <a:ext cx="548640" cy="548640"/>
          </a:xfrm>
          <a:prstGeom prst="ellipse">
            <a:avLst/>
          </a:prstGeom>
          <a:solidFill>
            <a:srgbClr val="1F6F6B"/>
          </a:solidFill>
          <a:ln/>
        </p:spPr>
      </p:sp>
      <p:pic>
        <p:nvPicPr>
          <p:cNvPr id="5" name="paso-1-icono" descr="preencoded.png">    </p:cNvPr>
          <p:cNvPicPr>
            <a:picLocks noChangeAspect="1"/>
          </p:cNvPicPr>
          <p:nvPr/>
        </p:nvPicPr>
        <p:blipFill>
          <a:blip r:embed="rId1"/>
          <a:stretch>
            <a:fillRect/>
          </a:stretch>
        </p:blipFill>
        <p:spPr>
          <a:xfrm>
            <a:off x="852221" y="1830629"/>
            <a:ext cx="307238" cy="307238"/>
          </a:xfrm>
          <a:prstGeom prst="rect">
            <a:avLst/>
          </a:prstGeom>
        </p:spPr>
      </p:pic>
      <p:sp>
        <p:nvSpPr>
          <p:cNvPr id="6" name="paso-1-titulo"/>
          <p:cNvSpPr txBox="1"/>
          <p:nvPr/>
        </p:nvSpPr>
        <p:spPr>
          <a:xfrm>
            <a:off x="731520" y="2331720"/>
            <a:ext cx="2103120" cy="320040"/>
          </a:xfrm>
          <a:prstGeom prst="rect">
            <a:avLst/>
          </a:prstGeom>
          <a:noFill/>
          <a:ln/>
        </p:spPr>
        <p:txBody>
          <a:bodyPr wrap="square" lIns="0" tIns="0" rIns="0" bIns="0" rtlCol="0" anchor="ctr"/>
          <a:lstStyle/>
          <a:p>
            <a:pPr indent="0" marL="0">
              <a:buNone/>
            </a:pPr>
            <a:r>
              <a:rPr lang="en-US" sz="1500" b="1" dirty="0">
                <a:solidFill>
                  <a:schemeClr val="tx2"/>
                </a:solidFill>
              </a:rPr>
              <a:t>Entrada</a:t>
            </a:r>
            <a:endParaRPr lang="en-US" sz="1500" dirty="0"/>
          </a:p>
        </p:txBody>
      </p:sp>
      <p:sp>
        <p:nvSpPr>
          <p:cNvPr id="7" name="paso-1-texto"/>
          <p:cNvSpPr txBox="1"/>
          <p:nvPr/>
        </p:nvSpPr>
        <p:spPr>
          <a:xfrm>
            <a:off x="731520" y="2624328"/>
            <a:ext cx="2103120" cy="274320"/>
          </a:xfrm>
          <a:prstGeom prst="rect">
            <a:avLst/>
          </a:prstGeom>
          <a:noFill/>
          <a:ln/>
        </p:spPr>
        <p:txBody>
          <a:bodyPr wrap="square" lIns="0" tIns="0" rIns="0" bIns="0" rtlCol="0" anchor="ctr"/>
          <a:lstStyle/>
          <a:p>
            <a:pPr indent="0" marL="0">
              <a:buNone/>
            </a:pPr>
            <a:r>
              <a:rPr lang="en-US" sz="1200" dirty="0">
                <a:solidFill>
                  <a:schemeClr val="accent6"/>
                </a:solidFill>
              </a:rPr>
              <a:t>PII anonimizada y plan inicial</a:t>
            </a:r>
            <a:endParaRPr lang="en-US" sz="1200" dirty="0"/>
          </a:p>
        </p:txBody>
      </p:sp>
      <p:sp>
        <p:nvSpPr>
          <p:cNvPr id="8" name="flecha-1"/>
          <p:cNvSpPr/>
          <p:nvPr/>
        </p:nvSpPr>
        <p:spPr>
          <a:xfrm>
            <a:off x="3017520" y="2240280"/>
            <a:ext cx="365760" cy="0"/>
          </a:xfrm>
          <a:prstGeom prst="line">
            <a:avLst/>
          </a:prstGeom>
          <a:noFill/>
          <a:ln w="25400">
            <a:solidFill>
              <a:srgbClr val="1F6F6B"/>
            </a:solidFill>
            <a:prstDash val="solid"/>
            <a:tailEnd type="triangle"/>
          </a:ln>
        </p:spPr>
      </p:sp>
      <p:sp>
        <p:nvSpPr>
          <p:cNvPr id="9" name="paso-2"/>
          <p:cNvSpPr/>
          <p:nvPr/>
        </p:nvSpPr>
        <p:spPr>
          <a:xfrm>
            <a:off x="3429000" y="1508760"/>
            <a:ext cx="2423160" cy="1463040"/>
          </a:xfrm>
          <a:prstGeom prst="roundRect">
            <a:avLst>
              <a:gd name="adj" fmla="val 7500"/>
            </a:avLst>
          </a:prstGeom>
          <a:solidFill>
            <a:srgbClr val="12343B"/>
          </a:solidFill>
          <a:ln/>
          <a:effectLst>
            <a:outerShdw sx="100000" sy="100000" kx="0" ky="0" algn="bl" rotWithShape="0" blurRad="76200" dist="25400" dir="5400000">
              <a:srgbClr val="000000">
                <a:alpha val="12000"/>
              </a:srgbClr>
            </a:outerShdw>
          </a:effectLst>
        </p:spPr>
      </p:sp>
      <p:sp>
        <p:nvSpPr>
          <p:cNvPr id="10" name="paso-2-circulo"/>
          <p:cNvSpPr/>
          <p:nvPr/>
        </p:nvSpPr>
        <p:spPr>
          <a:xfrm>
            <a:off x="3611880" y="1709928"/>
            <a:ext cx="548640" cy="548640"/>
          </a:xfrm>
          <a:prstGeom prst="ellipse">
            <a:avLst/>
          </a:prstGeom>
          <a:solidFill>
            <a:srgbClr val="E3A33A"/>
          </a:solidFill>
          <a:ln/>
        </p:spPr>
      </p:sp>
      <p:pic>
        <p:nvPicPr>
          <p:cNvPr id="11" name="paso-2-icono" descr="preencoded.png">    </p:cNvPr>
          <p:cNvPicPr>
            <a:picLocks noChangeAspect="1"/>
          </p:cNvPicPr>
          <p:nvPr/>
        </p:nvPicPr>
        <p:blipFill>
          <a:blip r:embed="rId2"/>
          <a:stretch>
            <a:fillRect/>
          </a:stretch>
        </p:blipFill>
        <p:spPr>
          <a:xfrm>
            <a:off x="3732581" y="1830629"/>
            <a:ext cx="307238" cy="307238"/>
          </a:xfrm>
          <a:prstGeom prst="rect">
            <a:avLst/>
          </a:prstGeom>
        </p:spPr>
      </p:pic>
      <p:sp>
        <p:nvSpPr>
          <p:cNvPr id="12" name="paso-2-titulo"/>
          <p:cNvSpPr txBox="1"/>
          <p:nvPr/>
        </p:nvSpPr>
        <p:spPr>
          <a:xfrm>
            <a:off x="3611880" y="2331720"/>
            <a:ext cx="2103120" cy="320040"/>
          </a:xfrm>
          <a:prstGeom prst="rect">
            <a:avLst/>
          </a:prstGeom>
          <a:noFill/>
          <a:ln/>
        </p:spPr>
        <p:txBody>
          <a:bodyPr wrap="square" lIns="0" tIns="0" rIns="0" bIns="0" rtlCol="0" anchor="ctr"/>
          <a:lstStyle/>
          <a:p>
            <a:pPr indent="0" marL="0">
              <a:buNone/>
            </a:pPr>
            <a:r>
              <a:rPr lang="en-US" sz="1500" b="1" dirty="0">
                <a:solidFill>
                  <a:schemeClr val="bg1"/>
                </a:solidFill>
              </a:rPr>
              <a:t>LangGraph + GPT Luna</a:t>
            </a:r>
            <a:endParaRPr lang="en-US" sz="1500" dirty="0"/>
          </a:p>
        </p:txBody>
      </p:sp>
      <p:sp>
        <p:nvSpPr>
          <p:cNvPr id="13" name="paso-2-texto"/>
          <p:cNvSpPr txBox="1"/>
          <p:nvPr/>
        </p:nvSpPr>
        <p:spPr>
          <a:xfrm>
            <a:off x="3611880" y="2624328"/>
            <a:ext cx="2103120" cy="274320"/>
          </a:xfrm>
          <a:prstGeom prst="rect">
            <a:avLst/>
          </a:prstGeom>
          <a:noFill/>
          <a:ln/>
        </p:spPr>
        <p:txBody>
          <a:bodyPr wrap="square" lIns="0" tIns="0" rIns="0" bIns="0" rtlCol="0" anchor="ctr"/>
          <a:lstStyle/>
          <a:p>
            <a:pPr indent="0" marL="0">
              <a:buNone/>
            </a:pPr>
            <a:r>
              <a:rPr lang="en-US" sz="1200" dirty="0">
                <a:solidFill>
                  <a:schemeClr val="bg2"/>
                </a:solidFill>
              </a:rPr>
              <a:t>Decide la siguiente herramienta</a:t>
            </a:r>
            <a:endParaRPr lang="en-US" sz="1200" dirty="0"/>
          </a:p>
        </p:txBody>
      </p:sp>
      <p:sp>
        <p:nvSpPr>
          <p:cNvPr id="14" name="flecha-2"/>
          <p:cNvSpPr/>
          <p:nvPr/>
        </p:nvSpPr>
        <p:spPr>
          <a:xfrm>
            <a:off x="5897880" y="2240280"/>
            <a:ext cx="365760" cy="0"/>
          </a:xfrm>
          <a:prstGeom prst="line">
            <a:avLst/>
          </a:prstGeom>
          <a:noFill/>
          <a:ln w="25400">
            <a:solidFill>
              <a:srgbClr val="1F6F6B"/>
            </a:solidFill>
            <a:prstDash val="solid"/>
            <a:tailEnd type="triangle"/>
          </a:ln>
        </p:spPr>
      </p:sp>
      <p:sp>
        <p:nvSpPr>
          <p:cNvPr id="15" name="paso-3"/>
          <p:cNvSpPr/>
          <p:nvPr/>
        </p:nvSpPr>
        <p:spPr>
          <a:xfrm>
            <a:off x="6309360" y="1508760"/>
            <a:ext cx="2423160" cy="1463040"/>
          </a:xfrm>
          <a:prstGeom prst="roundRect">
            <a:avLst>
              <a:gd name="adj" fmla="val 7500"/>
            </a:avLst>
          </a:prstGeom>
          <a:solidFill>
            <a:srgbClr val="E8F1EF"/>
          </a:solidFill>
          <a:ln/>
          <a:effectLst>
            <a:outerShdw sx="100000" sy="100000" kx="0" ky="0" algn="bl" rotWithShape="0" blurRad="76200" dist="25400" dir="5400000">
              <a:srgbClr val="000000">
                <a:alpha val="12000"/>
              </a:srgbClr>
            </a:outerShdw>
          </a:effectLst>
        </p:spPr>
      </p:sp>
      <p:sp>
        <p:nvSpPr>
          <p:cNvPr id="16" name="paso-3-circulo"/>
          <p:cNvSpPr/>
          <p:nvPr/>
        </p:nvSpPr>
        <p:spPr>
          <a:xfrm>
            <a:off x="6492240" y="1709928"/>
            <a:ext cx="548640" cy="548640"/>
          </a:xfrm>
          <a:prstGeom prst="ellipse">
            <a:avLst/>
          </a:prstGeom>
          <a:solidFill>
            <a:srgbClr val="1F6F6B"/>
          </a:solidFill>
          <a:ln/>
        </p:spPr>
      </p:sp>
      <p:pic>
        <p:nvPicPr>
          <p:cNvPr id="17" name="paso-3-icono" descr="preencoded.png">    </p:cNvPr>
          <p:cNvPicPr>
            <a:picLocks noChangeAspect="1"/>
          </p:cNvPicPr>
          <p:nvPr/>
        </p:nvPicPr>
        <p:blipFill>
          <a:blip r:embed="rId3"/>
          <a:stretch>
            <a:fillRect/>
          </a:stretch>
        </p:blipFill>
        <p:spPr>
          <a:xfrm>
            <a:off x="6612941" y="1830629"/>
            <a:ext cx="307238" cy="307238"/>
          </a:xfrm>
          <a:prstGeom prst="rect">
            <a:avLst/>
          </a:prstGeom>
        </p:spPr>
      </p:pic>
      <p:sp>
        <p:nvSpPr>
          <p:cNvPr id="18" name="paso-3-titulo"/>
          <p:cNvSpPr txBox="1"/>
          <p:nvPr/>
        </p:nvSpPr>
        <p:spPr>
          <a:xfrm>
            <a:off x="6492240" y="2331720"/>
            <a:ext cx="2103120" cy="320040"/>
          </a:xfrm>
          <a:prstGeom prst="rect">
            <a:avLst/>
          </a:prstGeom>
          <a:noFill/>
          <a:ln/>
        </p:spPr>
        <p:txBody>
          <a:bodyPr wrap="square" lIns="0" tIns="0" rIns="0" bIns="0" rtlCol="0" anchor="ctr"/>
          <a:lstStyle/>
          <a:p>
            <a:pPr indent="0" marL="0">
              <a:buNone/>
            </a:pPr>
            <a:r>
              <a:rPr lang="en-US" sz="1500" b="1" dirty="0">
                <a:solidFill>
                  <a:schemeClr val="tx2"/>
                </a:solidFill>
              </a:rPr>
              <a:t>4 herramientas</a:t>
            </a:r>
            <a:endParaRPr lang="en-US" sz="1500" dirty="0"/>
          </a:p>
        </p:txBody>
      </p:sp>
      <p:sp>
        <p:nvSpPr>
          <p:cNvPr id="19" name="paso-3-texto"/>
          <p:cNvSpPr txBox="1"/>
          <p:nvPr/>
        </p:nvSpPr>
        <p:spPr>
          <a:xfrm>
            <a:off x="6492240" y="2624328"/>
            <a:ext cx="2103120" cy="274320"/>
          </a:xfrm>
          <a:prstGeom prst="rect">
            <a:avLst/>
          </a:prstGeom>
          <a:noFill/>
          <a:ln/>
        </p:spPr>
        <p:txBody>
          <a:bodyPr wrap="square" lIns="0" tIns="0" rIns="0" bIns="0" rtlCol="0" anchor="ctr"/>
          <a:lstStyle/>
          <a:p>
            <a:pPr indent="0" marL="0">
              <a:buNone/>
            </a:pPr>
            <a:r>
              <a:rPr lang="en-US" sz="1200" dirty="0">
                <a:solidFill>
                  <a:schemeClr val="accent6"/>
                </a:solidFill>
              </a:rPr>
              <a:t>Norma, plazo y borradores</a:t>
            </a:r>
            <a:endParaRPr lang="en-US" sz="1200" dirty="0"/>
          </a:p>
        </p:txBody>
      </p:sp>
      <p:sp>
        <p:nvSpPr>
          <p:cNvPr id="20" name="flecha-3"/>
          <p:cNvSpPr/>
          <p:nvPr/>
        </p:nvSpPr>
        <p:spPr>
          <a:xfrm>
            <a:off x="8778240" y="2240280"/>
            <a:ext cx="365760" cy="0"/>
          </a:xfrm>
          <a:prstGeom prst="line">
            <a:avLst/>
          </a:prstGeom>
          <a:noFill/>
          <a:ln w="25400">
            <a:solidFill>
              <a:srgbClr val="1F6F6B"/>
            </a:solidFill>
            <a:prstDash val="solid"/>
            <a:tailEnd type="triangle"/>
          </a:ln>
        </p:spPr>
      </p:sp>
      <p:sp>
        <p:nvSpPr>
          <p:cNvPr id="21" name="paso-4"/>
          <p:cNvSpPr/>
          <p:nvPr/>
        </p:nvSpPr>
        <p:spPr>
          <a:xfrm>
            <a:off x="9189720" y="1508760"/>
            <a:ext cx="2423160" cy="1463040"/>
          </a:xfrm>
          <a:prstGeom prst="roundRect">
            <a:avLst>
              <a:gd name="adj" fmla="val 7500"/>
            </a:avLst>
          </a:prstGeom>
          <a:solidFill>
            <a:srgbClr val="E8F1EF"/>
          </a:solidFill>
          <a:ln/>
          <a:effectLst>
            <a:outerShdw sx="100000" sy="100000" kx="0" ky="0" algn="bl" rotWithShape="0" blurRad="76200" dist="25400" dir="5400000">
              <a:srgbClr val="000000">
                <a:alpha val="12000"/>
              </a:srgbClr>
            </a:outerShdw>
          </a:effectLst>
        </p:spPr>
      </p:sp>
      <p:sp>
        <p:nvSpPr>
          <p:cNvPr id="22" name="paso-4-circulo"/>
          <p:cNvSpPr/>
          <p:nvPr/>
        </p:nvSpPr>
        <p:spPr>
          <a:xfrm>
            <a:off x="9372600" y="1709928"/>
            <a:ext cx="548640" cy="548640"/>
          </a:xfrm>
          <a:prstGeom prst="ellipse">
            <a:avLst/>
          </a:prstGeom>
          <a:solidFill>
            <a:srgbClr val="1F6F6B"/>
          </a:solidFill>
          <a:ln/>
        </p:spPr>
      </p:sp>
      <p:pic>
        <p:nvPicPr>
          <p:cNvPr id="23" name="paso-4-icono" descr="preencoded.png">    </p:cNvPr>
          <p:cNvPicPr>
            <a:picLocks noChangeAspect="1"/>
          </p:cNvPicPr>
          <p:nvPr/>
        </p:nvPicPr>
        <p:blipFill>
          <a:blip r:embed="rId4"/>
          <a:stretch>
            <a:fillRect/>
          </a:stretch>
        </p:blipFill>
        <p:spPr>
          <a:xfrm>
            <a:off x="9493301" y="1830629"/>
            <a:ext cx="307238" cy="307238"/>
          </a:xfrm>
          <a:prstGeom prst="rect">
            <a:avLst/>
          </a:prstGeom>
        </p:spPr>
      </p:pic>
      <p:sp>
        <p:nvSpPr>
          <p:cNvPr id="24" name="paso-4-titulo"/>
          <p:cNvSpPr txBox="1"/>
          <p:nvPr/>
        </p:nvSpPr>
        <p:spPr>
          <a:xfrm>
            <a:off x="9372600" y="2331720"/>
            <a:ext cx="2103120" cy="320040"/>
          </a:xfrm>
          <a:prstGeom prst="rect">
            <a:avLst/>
          </a:prstGeom>
          <a:noFill/>
          <a:ln/>
        </p:spPr>
        <p:txBody>
          <a:bodyPr wrap="square" lIns="0" tIns="0" rIns="0" bIns="0" rtlCol="0" anchor="ctr"/>
          <a:lstStyle/>
          <a:p>
            <a:pPr indent="0" marL="0">
              <a:buNone/>
            </a:pPr>
            <a:r>
              <a:rPr lang="en-US" sz="1500" b="1" dirty="0">
                <a:solidFill>
                  <a:schemeClr val="tx2"/>
                </a:solidFill>
              </a:rPr>
              <a:t>Validación de citas</a:t>
            </a:r>
            <a:endParaRPr lang="en-US" sz="1500" dirty="0"/>
          </a:p>
        </p:txBody>
      </p:sp>
      <p:sp>
        <p:nvSpPr>
          <p:cNvPr id="25" name="paso-4-texto"/>
          <p:cNvSpPr txBox="1"/>
          <p:nvPr/>
        </p:nvSpPr>
        <p:spPr>
          <a:xfrm>
            <a:off x="9372600" y="2624328"/>
            <a:ext cx="2103120" cy="274320"/>
          </a:xfrm>
          <a:prstGeom prst="rect">
            <a:avLst/>
          </a:prstGeom>
          <a:noFill/>
          <a:ln/>
        </p:spPr>
        <p:txBody>
          <a:bodyPr wrap="square" lIns="0" tIns="0" rIns="0" bIns="0" rtlCol="0" anchor="ctr"/>
          <a:lstStyle/>
          <a:p>
            <a:pPr indent="0" marL="0">
              <a:buNone/>
            </a:pPr>
            <a:r>
              <a:rPr lang="en-US" sz="1200" dirty="0">
                <a:solidFill>
                  <a:schemeClr val="accent6"/>
                </a:solidFill>
              </a:rPr>
              <a:t>Responde o se abstiene</a:t>
            </a:r>
            <a:endParaRPr lang="en-US" sz="1200" dirty="0"/>
          </a:p>
        </p:txBody>
      </p:sp>
      <p:sp>
        <p:nvSpPr>
          <p:cNvPr id="26" name="ciclo"/>
          <p:cNvSpPr/>
          <p:nvPr/>
        </p:nvSpPr>
        <p:spPr>
          <a:xfrm>
            <a:off x="3429000" y="3154680"/>
            <a:ext cx="5303520" cy="411480"/>
          </a:xfrm>
          <a:prstGeom prst="roundRect">
            <a:avLst>
              <a:gd name="adj" fmla="val 48889"/>
            </a:avLst>
          </a:prstGeom>
          <a:solidFill>
            <a:srgbClr val="E3A33A">
              <a:alpha val="25000"/>
            </a:srgbClr>
          </a:solidFill>
          <a:ln/>
        </p:spPr>
      </p:sp>
      <p:sp>
        <p:nvSpPr>
          <p:cNvPr id="27" name="ciclo-texto"/>
          <p:cNvSpPr txBox="1"/>
          <p:nvPr/>
        </p:nvSpPr>
        <p:spPr>
          <a:xfrm>
            <a:off x="3429000" y="3154680"/>
            <a:ext cx="5303520" cy="411480"/>
          </a:xfrm>
          <a:prstGeom prst="rect">
            <a:avLst/>
          </a:prstGeom>
          <a:noFill/>
          <a:ln/>
        </p:spPr>
        <p:txBody>
          <a:bodyPr wrap="square" lIns="0" tIns="0" rIns="0" bIns="0" rtlCol="0" anchor="ctr"/>
          <a:lstStyle/>
          <a:p>
            <a:pPr algn="ctr" indent="0" marL="0">
              <a:buNone/>
            </a:pPr>
            <a:r>
              <a:rPr lang="en-US" sz="1300" b="1" dirty="0">
                <a:solidFill>
                  <a:schemeClr val="tx2"/>
                </a:solidFill>
              </a:rPr>
              <a:t>↺  Cada resultado vuelve al modelo · máx. 4 llamadas por turno</a:t>
            </a:r>
            <a:endParaRPr lang="en-US" sz="1300" dirty="0"/>
          </a:p>
        </p:txBody>
      </p:sp>
      <p:sp>
        <p:nvSpPr>
          <p:cNvPr id="28" name="almacen-1"/>
          <p:cNvSpPr/>
          <p:nvPr/>
        </p:nvSpPr>
        <p:spPr>
          <a:xfrm>
            <a:off x="548640" y="3931920"/>
            <a:ext cx="5349240" cy="1234440"/>
          </a:xfrm>
          <a:prstGeom prst="roundRect">
            <a:avLst>
              <a:gd name="adj" fmla="val 8889"/>
            </a:avLst>
          </a:prstGeom>
          <a:solidFill>
            <a:srgbClr val="FFFFFF"/>
          </a:solidFill>
          <a:ln w="19050">
            <a:solidFill>
              <a:srgbClr val="E8F1EF"/>
            </a:solidFill>
            <a:prstDash val="solid"/>
          </a:ln>
          <a:effectLst>
            <a:outerShdw sx="100000" sy="100000" kx="0" ky="0" algn="bl" rotWithShape="0" blurRad="76200" dist="25400" dir="5400000">
              <a:srgbClr val="000000">
                <a:alpha val="12000"/>
              </a:srgbClr>
            </a:outerShdw>
          </a:effectLst>
        </p:spPr>
      </p:sp>
      <p:sp>
        <p:nvSpPr>
          <p:cNvPr id="29" name="almacen-1-circulo"/>
          <p:cNvSpPr/>
          <p:nvPr/>
        </p:nvSpPr>
        <p:spPr>
          <a:xfrm>
            <a:off x="777240" y="4224528"/>
            <a:ext cx="640080" cy="640080"/>
          </a:xfrm>
          <a:prstGeom prst="ellipse">
            <a:avLst/>
          </a:prstGeom>
          <a:solidFill>
            <a:srgbClr val="12343B"/>
          </a:solidFill>
          <a:ln/>
        </p:spPr>
      </p:sp>
      <p:pic>
        <p:nvPicPr>
          <p:cNvPr id="30" name="almacen-1-icono" descr="preencoded.png">    </p:cNvPr>
          <p:cNvPicPr>
            <a:picLocks noChangeAspect="1"/>
          </p:cNvPicPr>
          <p:nvPr/>
        </p:nvPicPr>
        <p:blipFill>
          <a:blip r:embed="rId5"/>
          <a:stretch>
            <a:fillRect/>
          </a:stretch>
        </p:blipFill>
        <p:spPr>
          <a:xfrm>
            <a:off x="918058" y="4365346"/>
            <a:ext cx="358445" cy="358445"/>
          </a:xfrm>
          <a:prstGeom prst="rect">
            <a:avLst/>
          </a:prstGeom>
        </p:spPr>
      </p:pic>
      <p:sp>
        <p:nvSpPr>
          <p:cNvPr id="31" name="almacen-1-texto"/>
          <p:cNvSpPr txBox="1"/>
          <p:nvPr/>
        </p:nvSpPr>
        <p:spPr>
          <a:xfrm>
            <a:off x="1600200" y="4069080"/>
            <a:ext cx="4114800" cy="960120"/>
          </a:xfrm>
          <a:prstGeom prst="rect">
            <a:avLst/>
          </a:prstGeom>
          <a:noFill/>
          <a:ln/>
        </p:spPr>
        <p:txBody>
          <a:bodyPr wrap="square" lIns="0" tIns="0" rIns="0" bIns="0" rtlCol="0" anchor="ctr"/>
          <a:lstStyle/>
          <a:p>
            <a:pPr indent="0" marL="0">
              <a:spcAft>
                <a:spcPts val="300"/>
              </a:spcAft>
              <a:buNone/>
            </a:pPr>
            <a:r>
              <a:rPr lang="en-US" sz="1600" b="1" dirty="0">
                <a:solidFill>
                  <a:schemeClr val="tx2"/>
                </a:solidFill>
              </a:rPr>
              <a:t>PostgreSQL en Neon</a:t>
            </a:r>
            <a:endParaRPr lang="en-US" sz="1600" dirty="0"/>
          </a:p>
          <a:p>
            <a:pPr indent="0" marL="0">
              <a:spcAft>
                <a:spcPts val="300"/>
              </a:spcAft>
              <a:buNone/>
            </a:pPr>
            <a:r>
              <a:rPr lang="en-US" sz="1400" dirty="0">
                <a:solidFill>
                  <a:schemeClr val="tx1"/>
                </a:solidFill>
              </a:rPr>
              <a:t>Memoria de 10 mensajes, borradores y registro de consumo</a:t>
            </a:r>
            <a:endParaRPr lang="en-US" sz="1600" dirty="0"/>
          </a:p>
        </p:txBody>
      </p:sp>
      <p:sp>
        <p:nvSpPr>
          <p:cNvPr id="32" name="almacen-2"/>
          <p:cNvSpPr/>
          <p:nvPr/>
        </p:nvSpPr>
        <p:spPr>
          <a:xfrm>
            <a:off x="6263640" y="3931920"/>
            <a:ext cx="5349240" cy="1234440"/>
          </a:xfrm>
          <a:prstGeom prst="roundRect">
            <a:avLst>
              <a:gd name="adj" fmla="val 8889"/>
            </a:avLst>
          </a:prstGeom>
          <a:solidFill>
            <a:srgbClr val="FFFFFF"/>
          </a:solidFill>
          <a:ln w="19050">
            <a:solidFill>
              <a:srgbClr val="E8F1EF"/>
            </a:solidFill>
            <a:prstDash val="solid"/>
          </a:ln>
          <a:effectLst>
            <a:outerShdw sx="100000" sy="100000" kx="0" ky="0" algn="bl" rotWithShape="0" blurRad="76200" dist="25400" dir="5400000">
              <a:srgbClr val="000000">
                <a:alpha val="12000"/>
              </a:srgbClr>
            </a:outerShdw>
          </a:effectLst>
        </p:spPr>
      </p:sp>
      <p:sp>
        <p:nvSpPr>
          <p:cNvPr id="33" name="almacen-2-circulo"/>
          <p:cNvSpPr/>
          <p:nvPr/>
        </p:nvSpPr>
        <p:spPr>
          <a:xfrm>
            <a:off x="6492240" y="4224528"/>
            <a:ext cx="640080" cy="640080"/>
          </a:xfrm>
          <a:prstGeom prst="ellipse">
            <a:avLst/>
          </a:prstGeom>
          <a:solidFill>
            <a:srgbClr val="12343B"/>
          </a:solidFill>
          <a:ln/>
        </p:spPr>
      </p:sp>
      <p:pic>
        <p:nvPicPr>
          <p:cNvPr id="34" name="almacen-2-icono" descr="preencoded.png">    </p:cNvPr>
          <p:cNvPicPr>
            <a:picLocks noChangeAspect="1"/>
          </p:cNvPicPr>
          <p:nvPr/>
        </p:nvPicPr>
        <p:blipFill>
          <a:blip r:embed="rId6"/>
          <a:stretch>
            <a:fillRect/>
          </a:stretch>
        </p:blipFill>
        <p:spPr>
          <a:xfrm>
            <a:off x="6633058" y="4365346"/>
            <a:ext cx="358445" cy="358445"/>
          </a:xfrm>
          <a:prstGeom prst="rect">
            <a:avLst/>
          </a:prstGeom>
        </p:spPr>
      </p:pic>
      <p:sp>
        <p:nvSpPr>
          <p:cNvPr id="35" name="almacen-2-texto"/>
          <p:cNvSpPr txBox="1"/>
          <p:nvPr/>
        </p:nvSpPr>
        <p:spPr>
          <a:xfrm>
            <a:off x="7315200" y="4069080"/>
            <a:ext cx="4114800" cy="960120"/>
          </a:xfrm>
          <a:prstGeom prst="rect">
            <a:avLst/>
          </a:prstGeom>
          <a:noFill/>
          <a:ln/>
        </p:spPr>
        <p:txBody>
          <a:bodyPr wrap="square" lIns="0" tIns="0" rIns="0" bIns="0" rtlCol="0" anchor="ctr"/>
          <a:lstStyle/>
          <a:p>
            <a:pPr indent="0" marL="0">
              <a:spcAft>
                <a:spcPts val="300"/>
              </a:spcAft>
              <a:buNone/>
            </a:pPr>
            <a:r>
              <a:rPr lang="en-US" sz="1600" b="1" dirty="0">
                <a:solidFill>
                  <a:schemeClr val="tx2"/>
                </a:solidFill>
              </a:rPr>
              <a:t>Embeddings OpenRouter</a:t>
            </a:r>
            <a:endParaRPr lang="en-US" sz="1600" dirty="0"/>
          </a:p>
          <a:p>
            <a:pPr indent="0" marL="0">
              <a:spcAft>
                <a:spcPts val="300"/>
              </a:spcAft>
              <a:buNone/>
            </a:pPr>
            <a:r>
              <a:rPr lang="en-US" sz="1400" dirty="0">
                <a:solidFill>
                  <a:schemeClr val="tx1"/>
                </a:solidFill>
              </a:rPr>
              <a:t>Búsqueda híbrida BM25 + vectores (RRF) sobre 17 fragmentos</a:t>
            </a:r>
            <a:endParaRPr lang="en-US" sz="1600" dirty="0"/>
          </a:p>
        </p:txBody>
      </p:sp>
      <p:sp>
        <p:nvSpPr>
          <p:cNvPr id="36" name="tools-label"/>
          <p:cNvSpPr txBox="1"/>
          <p:nvPr/>
        </p:nvSpPr>
        <p:spPr>
          <a:xfrm>
            <a:off x="548640" y="5486400"/>
            <a:ext cx="1417320" cy="384048"/>
          </a:xfrm>
          <a:prstGeom prst="rect">
            <a:avLst/>
          </a:prstGeom>
          <a:noFill/>
          <a:ln/>
        </p:spPr>
        <p:txBody>
          <a:bodyPr wrap="square" lIns="0" tIns="0" rIns="0" bIns="0" rtlCol="0" anchor="ctr"/>
          <a:lstStyle/>
          <a:p>
            <a:pPr indent="0" marL="0">
              <a:buNone/>
            </a:pPr>
            <a:r>
              <a:rPr lang="en-US" sz="1300" b="1" dirty="0">
                <a:solidFill>
                  <a:schemeClr val="accent6"/>
                </a:solidFill>
              </a:rPr>
              <a:t>Herramientas:</a:t>
            </a:r>
            <a:endParaRPr lang="en-US" sz="1300" dirty="0"/>
          </a:p>
        </p:txBody>
      </p:sp>
      <p:sp>
        <p:nvSpPr>
          <p:cNvPr id="37" name="tool-1"/>
          <p:cNvSpPr/>
          <p:nvPr/>
        </p:nvSpPr>
        <p:spPr>
          <a:xfrm>
            <a:off x="2011680" y="5486400"/>
            <a:ext cx="2331720" cy="384048"/>
          </a:xfrm>
          <a:prstGeom prst="roundRect">
            <a:avLst>
              <a:gd name="adj" fmla="val 50000"/>
            </a:avLst>
          </a:prstGeom>
          <a:solidFill>
            <a:srgbClr val="E8F1EF"/>
          </a:solidFill>
          <a:ln/>
        </p:spPr>
      </p:sp>
      <p:sp>
        <p:nvSpPr>
          <p:cNvPr id="38" name="tool-1-texto"/>
          <p:cNvSpPr txBox="1"/>
          <p:nvPr/>
        </p:nvSpPr>
        <p:spPr>
          <a:xfrm>
            <a:off x="2011680" y="5486400"/>
            <a:ext cx="233172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buscar_normativa</a:t>
            </a:r>
            <a:endParaRPr lang="en-US" sz="1300" dirty="0"/>
          </a:p>
        </p:txBody>
      </p:sp>
      <p:sp>
        <p:nvSpPr>
          <p:cNvPr id="39" name="tool-2"/>
          <p:cNvSpPr/>
          <p:nvPr/>
        </p:nvSpPr>
        <p:spPr>
          <a:xfrm>
            <a:off x="4526280" y="5486400"/>
            <a:ext cx="1920240" cy="384048"/>
          </a:xfrm>
          <a:prstGeom prst="roundRect">
            <a:avLst>
              <a:gd name="adj" fmla="val 50000"/>
            </a:avLst>
          </a:prstGeom>
          <a:solidFill>
            <a:srgbClr val="E8F1EF"/>
          </a:solidFill>
          <a:ln/>
        </p:spPr>
      </p:sp>
      <p:sp>
        <p:nvSpPr>
          <p:cNvPr id="40" name="tool-2-texto"/>
          <p:cNvSpPr txBox="1"/>
          <p:nvPr/>
        </p:nvSpPr>
        <p:spPr>
          <a:xfrm>
            <a:off x="4526280" y="5486400"/>
            <a:ext cx="192024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evaluar_plazo</a:t>
            </a:r>
            <a:endParaRPr lang="en-US" sz="1300" dirty="0"/>
          </a:p>
        </p:txBody>
      </p:sp>
      <p:sp>
        <p:nvSpPr>
          <p:cNvPr id="41" name="tool-3"/>
          <p:cNvSpPr/>
          <p:nvPr/>
        </p:nvSpPr>
        <p:spPr>
          <a:xfrm>
            <a:off x="6629400" y="5486400"/>
            <a:ext cx="2194560" cy="384048"/>
          </a:xfrm>
          <a:prstGeom prst="roundRect">
            <a:avLst>
              <a:gd name="adj" fmla="val 50000"/>
            </a:avLst>
          </a:prstGeom>
          <a:solidFill>
            <a:srgbClr val="E8F1EF"/>
          </a:solidFill>
          <a:ln/>
        </p:spPr>
      </p:sp>
      <p:sp>
        <p:nvSpPr>
          <p:cNvPr id="42" name="tool-3-texto"/>
          <p:cNvSpPr txBox="1"/>
          <p:nvPr/>
        </p:nvSpPr>
        <p:spPr>
          <a:xfrm>
            <a:off x="6629400" y="5486400"/>
            <a:ext cx="21945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guardar_borrador</a:t>
            </a:r>
            <a:endParaRPr lang="en-US" sz="1300" dirty="0"/>
          </a:p>
        </p:txBody>
      </p:sp>
      <p:sp>
        <p:nvSpPr>
          <p:cNvPr id="43" name="tool-4"/>
          <p:cNvSpPr/>
          <p:nvPr/>
        </p:nvSpPr>
        <p:spPr>
          <a:xfrm>
            <a:off x="9006840" y="5486400"/>
            <a:ext cx="2606040" cy="384048"/>
          </a:xfrm>
          <a:prstGeom prst="roundRect">
            <a:avLst>
              <a:gd name="adj" fmla="val 50000"/>
            </a:avLst>
          </a:prstGeom>
          <a:solidFill>
            <a:srgbClr val="E8F1EF"/>
          </a:solidFill>
          <a:ln/>
        </p:spPr>
      </p:sp>
      <p:sp>
        <p:nvSpPr>
          <p:cNvPr id="44" name="tool-4-texto"/>
          <p:cNvSpPr txBox="1"/>
          <p:nvPr/>
        </p:nvSpPr>
        <p:spPr>
          <a:xfrm>
            <a:off x="9006840" y="5486400"/>
            <a:ext cx="260604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recuperar_borradores</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Memoria y control del consumo</a:t>
            </a:r>
            <a:endParaRPr lang="en-US" sz="3600" dirty="0"/>
          </a:p>
        </p:txBody>
      </p:sp>
      <p:sp>
        <p:nvSpPr>
          <p:cNvPr id="3" name="memoria-circulo"/>
          <p:cNvSpPr/>
          <p:nvPr/>
        </p:nvSpPr>
        <p:spPr>
          <a:xfrm>
            <a:off x="548640" y="1508760"/>
            <a:ext cx="548640" cy="548640"/>
          </a:xfrm>
          <a:prstGeom prst="ellipse">
            <a:avLst/>
          </a:prstGeom>
          <a:solidFill>
            <a:srgbClr val="1F6F6B"/>
          </a:solidFill>
          <a:ln/>
        </p:spPr>
      </p:sp>
      <p:pic>
        <p:nvPicPr>
          <p:cNvPr id="4" name="memoria-icono" descr="preencoded.png">    </p:cNvPr>
          <p:cNvPicPr>
            <a:picLocks noChangeAspect="1"/>
          </p:cNvPicPr>
          <p:nvPr/>
        </p:nvPicPr>
        <p:blipFill>
          <a:blip r:embed="rId1"/>
          <a:stretch>
            <a:fillRect/>
          </a:stretch>
        </p:blipFill>
        <p:spPr>
          <a:xfrm>
            <a:off x="669341" y="1629461"/>
            <a:ext cx="307238" cy="307238"/>
          </a:xfrm>
          <a:prstGeom prst="rect">
            <a:avLst/>
          </a:prstGeom>
        </p:spPr>
      </p:pic>
      <p:sp>
        <p:nvSpPr>
          <p:cNvPr id="5" name="memoria-titulo"/>
          <p:cNvSpPr txBox="1"/>
          <p:nvPr/>
        </p:nvSpPr>
        <p:spPr>
          <a:xfrm>
            <a:off x="1234440" y="1508760"/>
            <a:ext cx="4114800" cy="548640"/>
          </a:xfrm>
          <a:prstGeom prst="rect">
            <a:avLst/>
          </a:prstGeom>
          <a:noFill/>
          <a:ln/>
        </p:spPr>
        <p:txBody>
          <a:bodyPr wrap="square" lIns="0" tIns="0" rIns="0" bIns="0" rtlCol="0" anchor="ctr"/>
          <a:lstStyle/>
          <a:p>
            <a:pPr indent="0" marL="0">
              <a:buNone/>
            </a:pPr>
            <a:r>
              <a:rPr lang="en-US" sz="2200" b="1" dirty="0">
                <a:solidFill>
                  <a:schemeClr val="tx2"/>
                </a:solidFill>
              </a:rPr>
              <a:t>Memoria stateful</a:t>
            </a:r>
            <a:endParaRPr lang="en-US" sz="2200" dirty="0"/>
          </a:p>
        </p:txBody>
      </p:sp>
      <p:sp>
        <p:nvSpPr>
          <p:cNvPr id="6" name="memoria-lista"/>
          <p:cNvSpPr txBox="1"/>
          <p:nvPr/>
        </p:nvSpPr>
        <p:spPr>
          <a:xfrm>
            <a:off x="548640" y="2240280"/>
            <a:ext cx="539496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ConversationBufferWindowMemory con k = 5</a:t>
            </a:r>
            <a:endParaRPr lang="en-US" sz="1600" dirty="0"/>
          </a:p>
          <a:p>
            <a:pPr marL="342900" indent="-342900">
              <a:spcAft>
                <a:spcPts val="800"/>
              </a:spcAft>
              <a:buSzPct val="100000"/>
              <a:buChar char="•"/>
            </a:pPr>
            <a:r>
              <a:rPr lang="en-US" sz="1600" dirty="0">
                <a:solidFill>
                  <a:schemeClr val="tx1"/>
                </a:solidFill>
              </a:rPr>
              <a:t>Ventana persistida en Neon: lo anterior se borra</a:t>
            </a:r>
            <a:endParaRPr lang="en-US" sz="1600" dirty="0"/>
          </a:p>
          <a:p>
            <a:pPr marL="342900" indent="-342900">
              <a:spcAft>
                <a:spcPts val="800"/>
              </a:spcAft>
              <a:buSzPct val="100000"/>
              <a:buChar char="•"/>
            </a:pPr>
            <a:r>
              <a:rPr lang="en-US" sz="1600" dirty="0">
                <a:solidFill>
                  <a:schemeClr val="tx1"/>
                </a:solidFill>
              </a:rPr>
              <a:t>Largo plazo: borradores recuperados a petición</a:t>
            </a:r>
            <a:endParaRPr lang="en-US" sz="1600" dirty="0"/>
          </a:p>
        </p:txBody>
      </p:sp>
      <p:sp>
        <p:nvSpPr>
          <p:cNvPr id="7" name="intercambio-1"/>
          <p:cNvSpPr/>
          <p:nvPr/>
        </p:nvSpPr>
        <p:spPr>
          <a:xfrm>
            <a:off x="548640" y="4114800"/>
            <a:ext cx="713232" cy="713232"/>
          </a:xfrm>
          <a:prstGeom prst="roundRect">
            <a:avLst>
              <a:gd name="adj" fmla="val 10256"/>
            </a:avLst>
          </a:prstGeom>
          <a:solidFill>
            <a:srgbClr val="D9DEDF"/>
          </a:solidFill>
          <a:ln/>
        </p:spPr>
      </p:sp>
      <p:sp>
        <p:nvSpPr>
          <p:cNvPr id="8" name="intercambio-1-n"/>
          <p:cNvSpPr txBox="1"/>
          <p:nvPr/>
        </p:nvSpPr>
        <p:spPr>
          <a:xfrm>
            <a:off x="548640" y="4114800"/>
            <a:ext cx="713232" cy="713232"/>
          </a:xfrm>
          <a:prstGeom prst="rect">
            <a:avLst/>
          </a:prstGeom>
          <a:noFill/>
          <a:ln/>
        </p:spPr>
        <p:txBody>
          <a:bodyPr wrap="square" lIns="0" tIns="0" rIns="0" bIns="0" rtlCol="0" anchor="ctr"/>
          <a:lstStyle/>
          <a:p>
            <a:pPr algn="ctr" indent="0" marL="0">
              <a:buNone/>
            </a:pPr>
            <a:r>
              <a:rPr lang="en-US" sz="2000" b="1" dirty="0">
                <a:solidFill>
                  <a:schemeClr val="accent6"/>
                </a:solidFill>
              </a:rPr>
              <a:t>1</a:t>
            </a:r>
            <a:endParaRPr lang="en-US" sz="2000" dirty="0"/>
          </a:p>
        </p:txBody>
      </p:sp>
      <p:sp>
        <p:nvSpPr>
          <p:cNvPr id="9" name="intercambio-2"/>
          <p:cNvSpPr/>
          <p:nvPr/>
        </p:nvSpPr>
        <p:spPr>
          <a:xfrm>
            <a:off x="1426464" y="4114800"/>
            <a:ext cx="713232" cy="713232"/>
          </a:xfrm>
          <a:prstGeom prst="roundRect">
            <a:avLst>
              <a:gd name="adj" fmla="val 10256"/>
            </a:avLst>
          </a:prstGeom>
          <a:solidFill>
            <a:srgbClr val="1F6F6B"/>
          </a:solidFill>
          <a:ln/>
        </p:spPr>
      </p:sp>
      <p:sp>
        <p:nvSpPr>
          <p:cNvPr id="10" name="intercambio-2-n"/>
          <p:cNvSpPr txBox="1"/>
          <p:nvPr/>
        </p:nvSpPr>
        <p:spPr>
          <a:xfrm>
            <a:off x="1426464" y="4114800"/>
            <a:ext cx="713232" cy="713232"/>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intercambio-3"/>
          <p:cNvSpPr/>
          <p:nvPr/>
        </p:nvSpPr>
        <p:spPr>
          <a:xfrm>
            <a:off x="2304288" y="4114800"/>
            <a:ext cx="713232" cy="713232"/>
          </a:xfrm>
          <a:prstGeom prst="roundRect">
            <a:avLst>
              <a:gd name="adj" fmla="val 10256"/>
            </a:avLst>
          </a:prstGeom>
          <a:solidFill>
            <a:srgbClr val="1F6F6B"/>
          </a:solidFill>
          <a:ln/>
        </p:spPr>
      </p:sp>
      <p:sp>
        <p:nvSpPr>
          <p:cNvPr id="12" name="intercambio-3-n"/>
          <p:cNvSpPr txBox="1"/>
          <p:nvPr/>
        </p:nvSpPr>
        <p:spPr>
          <a:xfrm>
            <a:off x="2304288" y="4114800"/>
            <a:ext cx="713232" cy="713232"/>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intercambio-4"/>
          <p:cNvSpPr/>
          <p:nvPr/>
        </p:nvSpPr>
        <p:spPr>
          <a:xfrm>
            <a:off x="3182112" y="4114800"/>
            <a:ext cx="713232" cy="713232"/>
          </a:xfrm>
          <a:prstGeom prst="roundRect">
            <a:avLst>
              <a:gd name="adj" fmla="val 10256"/>
            </a:avLst>
          </a:prstGeom>
          <a:solidFill>
            <a:srgbClr val="1F6F6B"/>
          </a:solidFill>
          <a:ln/>
        </p:spPr>
      </p:sp>
      <p:sp>
        <p:nvSpPr>
          <p:cNvPr id="14" name="intercambio-4-n"/>
          <p:cNvSpPr txBox="1"/>
          <p:nvPr/>
        </p:nvSpPr>
        <p:spPr>
          <a:xfrm>
            <a:off x="3182112" y="4114800"/>
            <a:ext cx="713232" cy="713232"/>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intercambio-5"/>
          <p:cNvSpPr/>
          <p:nvPr/>
        </p:nvSpPr>
        <p:spPr>
          <a:xfrm>
            <a:off x="4059936" y="4114800"/>
            <a:ext cx="713232" cy="713232"/>
          </a:xfrm>
          <a:prstGeom prst="roundRect">
            <a:avLst>
              <a:gd name="adj" fmla="val 10256"/>
            </a:avLst>
          </a:prstGeom>
          <a:solidFill>
            <a:srgbClr val="1F6F6B"/>
          </a:solidFill>
          <a:ln/>
        </p:spPr>
      </p:sp>
      <p:sp>
        <p:nvSpPr>
          <p:cNvPr id="16" name="intercambio-5-n"/>
          <p:cNvSpPr txBox="1"/>
          <p:nvPr/>
        </p:nvSpPr>
        <p:spPr>
          <a:xfrm>
            <a:off x="4059936" y="4114800"/>
            <a:ext cx="713232" cy="713232"/>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7" name="intercambio-6"/>
          <p:cNvSpPr/>
          <p:nvPr/>
        </p:nvSpPr>
        <p:spPr>
          <a:xfrm>
            <a:off x="4937760" y="4114800"/>
            <a:ext cx="713232" cy="713232"/>
          </a:xfrm>
          <a:prstGeom prst="roundRect">
            <a:avLst>
              <a:gd name="adj" fmla="val 10256"/>
            </a:avLst>
          </a:prstGeom>
          <a:solidFill>
            <a:srgbClr val="1F6F6B"/>
          </a:solidFill>
          <a:ln/>
        </p:spPr>
      </p:sp>
      <p:sp>
        <p:nvSpPr>
          <p:cNvPr id="18" name="intercambio-6-n"/>
          <p:cNvSpPr txBox="1"/>
          <p:nvPr/>
        </p:nvSpPr>
        <p:spPr>
          <a:xfrm>
            <a:off x="4937760" y="4114800"/>
            <a:ext cx="713232" cy="713232"/>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19" name="etiqueta-borrado"/>
          <p:cNvSpPr txBox="1"/>
          <p:nvPr/>
        </p:nvSpPr>
        <p:spPr>
          <a:xfrm>
            <a:off x="548640" y="4901184"/>
            <a:ext cx="713232" cy="274320"/>
          </a:xfrm>
          <a:prstGeom prst="rect">
            <a:avLst/>
          </a:prstGeom>
          <a:noFill/>
          <a:ln/>
        </p:spPr>
        <p:txBody>
          <a:bodyPr wrap="square" lIns="0" tIns="0" rIns="0" bIns="0" rtlCol="0" anchor="ctr"/>
          <a:lstStyle/>
          <a:p>
            <a:pPr algn="ctr" indent="0" marL="0">
              <a:buNone/>
            </a:pPr>
            <a:r>
              <a:rPr lang="en-US" sz="1100" i="1" dirty="0">
                <a:solidFill>
                  <a:schemeClr val="accent4"/>
                </a:solidFill>
              </a:rPr>
              <a:t>borrado</a:t>
            </a:r>
            <a:endParaRPr lang="en-US" sz="1100" dirty="0"/>
          </a:p>
        </p:txBody>
      </p:sp>
      <p:sp>
        <p:nvSpPr>
          <p:cNvPr id="20" name="etiqueta-ventana"/>
          <p:cNvSpPr txBox="1"/>
          <p:nvPr/>
        </p:nvSpPr>
        <p:spPr>
          <a:xfrm>
            <a:off x="1426464" y="4901184"/>
            <a:ext cx="4224528" cy="274320"/>
          </a:xfrm>
          <a:prstGeom prst="rect">
            <a:avLst/>
          </a:prstGeom>
          <a:noFill/>
          <a:ln/>
        </p:spPr>
        <p:txBody>
          <a:bodyPr wrap="square" lIns="0" tIns="0" rIns="0" bIns="0" rtlCol="0" anchor="ctr"/>
          <a:lstStyle/>
          <a:p>
            <a:pPr algn="ctr" indent="0" marL="0">
              <a:buNone/>
            </a:pPr>
            <a:r>
              <a:rPr lang="en-US" sz="1200" b="1" dirty="0">
                <a:solidFill>
                  <a:schemeClr val="accent1"/>
                </a:solidFill>
              </a:rPr>
              <a:t>5 intercambios = 10 mensajes conservados</a:t>
            </a:r>
            <a:endParaRPr lang="en-US" sz="1200" dirty="0"/>
          </a:p>
        </p:txBody>
      </p:sp>
      <p:sp>
        <p:nvSpPr>
          <p:cNvPr id="21" name="dato-1"/>
          <p:cNvSpPr/>
          <p:nvPr/>
        </p:nvSpPr>
        <p:spPr>
          <a:xfrm>
            <a:off x="6355080" y="1508760"/>
            <a:ext cx="2514600" cy="1828800"/>
          </a:xfrm>
          <a:prstGeom prst="roundRect">
            <a:avLst>
              <a:gd name="adj" fmla="val 6000"/>
            </a:avLst>
          </a:prstGeom>
          <a:solidFill>
            <a:srgbClr val="E8F1EF"/>
          </a:solidFill>
          <a:ln/>
        </p:spPr>
      </p:sp>
      <p:sp>
        <p:nvSpPr>
          <p:cNvPr id="22" name="dato-1-numero"/>
          <p:cNvSpPr txBox="1"/>
          <p:nvPr/>
        </p:nvSpPr>
        <p:spPr>
          <a:xfrm>
            <a:off x="6537960" y="1737360"/>
            <a:ext cx="2148840" cy="86868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10</a:t>
            </a:r>
            <a:endParaRPr lang="en-US" sz="4400" dirty="0"/>
          </a:p>
        </p:txBody>
      </p:sp>
      <p:sp>
        <p:nvSpPr>
          <p:cNvPr id="23" name="dato-1-texto"/>
          <p:cNvSpPr txBox="1"/>
          <p:nvPr/>
        </p:nvSpPr>
        <p:spPr>
          <a:xfrm>
            <a:off x="6537960" y="2651760"/>
            <a:ext cx="2148840" cy="502920"/>
          </a:xfrm>
          <a:prstGeom prst="rect">
            <a:avLst/>
          </a:prstGeom>
          <a:noFill/>
          <a:ln/>
        </p:spPr>
        <p:txBody>
          <a:bodyPr wrap="square" lIns="0" tIns="0" rIns="0" bIns="0" rtlCol="0" anchor="t"/>
          <a:lstStyle/>
          <a:p>
            <a:pPr indent="0" marL="0">
              <a:buNone/>
            </a:pPr>
            <a:r>
              <a:rPr lang="en-US" sz="1400" dirty="0">
                <a:solidFill>
                  <a:schemeClr val="accent6"/>
                </a:solidFill>
              </a:rPr>
              <a:t>mensajes en la ventana</a:t>
            </a:r>
            <a:endParaRPr lang="en-US" sz="1400" dirty="0"/>
          </a:p>
        </p:txBody>
      </p:sp>
      <p:sp>
        <p:nvSpPr>
          <p:cNvPr id="24" name="dato-2"/>
          <p:cNvSpPr/>
          <p:nvPr/>
        </p:nvSpPr>
        <p:spPr>
          <a:xfrm>
            <a:off x="9052560" y="1508760"/>
            <a:ext cx="2514600" cy="1828800"/>
          </a:xfrm>
          <a:prstGeom prst="roundRect">
            <a:avLst>
              <a:gd name="adj" fmla="val 6000"/>
            </a:avLst>
          </a:prstGeom>
          <a:solidFill>
            <a:srgbClr val="E8F1EF"/>
          </a:solidFill>
          <a:ln/>
        </p:spPr>
      </p:sp>
      <p:sp>
        <p:nvSpPr>
          <p:cNvPr id="25" name="dato-2-numero"/>
          <p:cNvSpPr txBox="1"/>
          <p:nvPr/>
        </p:nvSpPr>
        <p:spPr>
          <a:xfrm>
            <a:off x="9235440" y="1737360"/>
            <a:ext cx="2148840" cy="86868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a:t>
            </a:r>
            <a:endParaRPr lang="en-US" sz="4400" dirty="0"/>
          </a:p>
        </p:txBody>
      </p:sp>
      <p:sp>
        <p:nvSpPr>
          <p:cNvPr id="26" name="dato-2-texto"/>
          <p:cNvSpPr txBox="1"/>
          <p:nvPr/>
        </p:nvSpPr>
        <p:spPr>
          <a:xfrm>
            <a:off x="9235440" y="2651760"/>
            <a:ext cx="2148840" cy="502920"/>
          </a:xfrm>
          <a:prstGeom prst="rect">
            <a:avLst/>
          </a:prstGeom>
          <a:noFill/>
          <a:ln/>
        </p:spPr>
        <p:txBody>
          <a:bodyPr wrap="square" lIns="0" tIns="0" rIns="0" bIns="0" rtlCol="0" anchor="t"/>
          <a:lstStyle/>
          <a:p>
            <a:pPr indent="0" marL="0">
              <a:buNone/>
            </a:pPr>
            <a:r>
              <a:rPr lang="en-US" sz="1400" dirty="0">
                <a:solidFill>
                  <a:schemeClr val="accent6"/>
                </a:solidFill>
              </a:rPr>
              <a:t>llamadas de chat por turno</a:t>
            </a:r>
            <a:endParaRPr lang="en-US" sz="1400" dirty="0"/>
          </a:p>
        </p:txBody>
      </p:sp>
      <p:sp>
        <p:nvSpPr>
          <p:cNvPr id="27" name="dato-3"/>
          <p:cNvSpPr/>
          <p:nvPr/>
        </p:nvSpPr>
        <p:spPr>
          <a:xfrm>
            <a:off x="6355080" y="3566160"/>
            <a:ext cx="2514600" cy="1828800"/>
          </a:xfrm>
          <a:prstGeom prst="roundRect">
            <a:avLst>
              <a:gd name="adj" fmla="val 6000"/>
            </a:avLst>
          </a:prstGeom>
          <a:solidFill>
            <a:srgbClr val="E8F1EF"/>
          </a:solidFill>
          <a:ln/>
        </p:spPr>
      </p:sp>
      <p:sp>
        <p:nvSpPr>
          <p:cNvPr id="28" name="dato-3-numero"/>
          <p:cNvSpPr txBox="1"/>
          <p:nvPr/>
        </p:nvSpPr>
        <p:spPr>
          <a:xfrm>
            <a:off x="6537960" y="3794760"/>
            <a:ext cx="21488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USD 0,75</a:t>
            </a:r>
            <a:endParaRPr lang="en-US" sz="3200" dirty="0"/>
          </a:p>
        </p:txBody>
      </p:sp>
      <p:sp>
        <p:nvSpPr>
          <p:cNvPr id="29" name="dato-3-texto"/>
          <p:cNvSpPr txBox="1"/>
          <p:nvPr/>
        </p:nvSpPr>
        <p:spPr>
          <a:xfrm>
            <a:off x="6537960" y="4709160"/>
            <a:ext cx="2148840" cy="502920"/>
          </a:xfrm>
          <a:prstGeom prst="rect">
            <a:avLst/>
          </a:prstGeom>
          <a:noFill/>
          <a:ln/>
        </p:spPr>
        <p:txBody>
          <a:bodyPr wrap="square" lIns="0" tIns="0" rIns="0" bIns="0" rtlCol="0" anchor="t"/>
          <a:lstStyle/>
          <a:p>
            <a:pPr indent="0" marL="0">
              <a:buNone/>
            </a:pPr>
            <a:r>
              <a:rPr lang="en-US" sz="1400" dirty="0">
                <a:solidFill>
                  <a:schemeClr val="accent6"/>
                </a:solidFill>
              </a:rPr>
              <a:t>tope compartido de gasto</a:t>
            </a:r>
            <a:endParaRPr lang="en-US" sz="1400" dirty="0"/>
          </a:p>
        </p:txBody>
      </p:sp>
      <p:sp>
        <p:nvSpPr>
          <p:cNvPr id="30" name="dato-4"/>
          <p:cNvSpPr/>
          <p:nvPr/>
        </p:nvSpPr>
        <p:spPr>
          <a:xfrm>
            <a:off x="9052560" y="3566160"/>
            <a:ext cx="2514600" cy="1828800"/>
          </a:xfrm>
          <a:prstGeom prst="roundRect">
            <a:avLst>
              <a:gd name="adj" fmla="val 6000"/>
            </a:avLst>
          </a:prstGeom>
          <a:solidFill>
            <a:srgbClr val="E8F1EF"/>
          </a:solidFill>
          <a:ln/>
        </p:spPr>
      </p:sp>
      <p:sp>
        <p:nvSpPr>
          <p:cNvPr id="31" name="dato-4-numero"/>
          <p:cNvSpPr txBox="1"/>
          <p:nvPr/>
        </p:nvSpPr>
        <p:spPr>
          <a:xfrm>
            <a:off x="9235440" y="3794760"/>
            <a:ext cx="21488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24.000</a:t>
            </a:r>
            <a:endParaRPr lang="en-US" sz="3200" dirty="0"/>
          </a:p>
        </p:txBody>
      </p:sp>
      <p:sp>
        <p:nvSpPr>
          <p:cNvPr id="32" name="dato-4-texto"/>
          <p:cNvSpPr txBox="1"/>
          <p:nvPr/>
        </p:nvSpPr>
        <p:spPr>
          <a:xfrm>
            <a:off x="9235440" y="4709160"/>
            <a:ext cx="2148840" cy="502920"/>
          </a:xfrm>
          <a:prstGeom prst="rect">
            <a:avLst/>
          </a:prstGeom>
          <a:noFill/>
          <a:ln/>
        </p:spPr>
        <p:txBody>
          <a:bodyPr wrap="square" lIns="0" tIns="0" rIns="0" bIns="0" rtlCol="0" anchor="t"/>
          <a:lstStyle/>
          <a:p>
            <a:pPr indent="0" marL="0">
              <a:buNone/>
            </a:pPr>
            <a:r>
              <a:rPr lang="en-US" sz="1400" dirty="0">
                <a:solidFill>
                  <a:schemeClr val="accent6"/>
                </a:solidFill>
              </a:rPr>
              <a:t>bytes máximos por solicitud</a:t>
            </a:r>
            <a:endParaRPr lang="en-US" sz="1400" dirty="0"/>
          </a:p>
        </p:txBody>
      </p:sp>
      <p:sp>
        <p:nvSpPr>
          <p:cNvPr id="33" name="nota-consumo"/>
          <p:cNvSpPr txBox="1"/>
          <p:nvPr/>
        </p:nvSpPr>
        <p:spPr>
          <a:xfrm>
            <a:off x="6355080" y="5623560"/>
            <a:ext cx="5212080" cy="320040"/>
          </a:xfrm>
          <a:prstGeom prst="rect">
            <a:avLst/>
          </a:prstGeom>
          <a:noFill/>
          <a:ln/>
        </p:spPr>
        <p:txBody>
          <a:bodyPr wrap="square" lIns="0" tIns="0" rIns="0" bIns="0" rtlCol="0" anchor="ctr"/>
          <a:lstStyle/>
          <a:p>
            <a:pPr indent="0" marL="0">
              <a:buNone/>
            </a:pPr>
            <a:r>
              <a:rPr lang="en-US" sz="1200" i="1" dirty="0">
                <a:solidFill>
                  <a:schemeClr val="accent6"/>
                </a:solidFill>
              </a:rPr>
              <a:t>Chat y embeddings por OpenRouter · reasoning low · sin reintentos automáticos</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Demo: consulta y borrador</a:t>
            </a:r>
            <a:endParaRPr lang="en-US" sz="3600" dirty="0"/>
          </a:p>
        </p:txBody>
      </p:sp>
      <p:sp>
        <p:nvSpPr>
          <p:cNvPr id="3" name="consulta"/>
          <p:cNvSpPr/>
          <p:nvPr/>
        </p:nvSpPr>
        <p:spPr>
          <a:xfrm>
            <a:off x="548640" y="1508760"/>
            <a:ext cx="5577840" cy="1417320"/>
          </a:xfrm>
          <a:prstGeom prst="roundRect">
            <a:avLst>
              <a:gd name="adj" fmla="val 9677"/>
            </a:avLst>
          </a:prstGeom>
          <a:solidFill>
            <a:srgbClr val="E8F1EF"/>
          </a:solidFill>
          <a:ln/>
        </p:spPr>
      </p:sp>
      <p:sp>
        <p:nvSpPr>
          <p:cNvPr id="4" name="consulta-circulo"/>
          <p:cNvSpPr/>
          <p:nvPr/>
        </p:nvSpPr>
        <p:spPr>
          <a:xfrm>
            <a:off x="777240" y="1737360"/>
            <a:ext cx="548640" cy="548640"/>
          </a:xfrm>
          <a:prstGeom prst="ellipse">
            <a:avLst/>
          </a:prstGeom>
          <a:solidFill>
            <a:srgbClr val="1F6F6B"/>
          </a:solidFill>
          <a:ln/>
        </p:spPr>
      </p:sp>
      <p:pic>
        <p:nvPicPr>
          <p:cNvPr id="5" name="consulta-icono" descr="preencoded.png">    </p:cNvPr>
          <p:cNvPicPr>
            <a:picLocks noChangeAspect="1"/>
          </p:cNvPicPr>
          <p:nvPr/>
        </p:nvPicPr>
        <p:blipFill>
          <a:blip r:embed="rId1"/>
          <a:stretch>
            <a:fillRect/>
          </a:stretch>
        </p:blipFill>
        <p:spPr>
          <a:xfrm>
            <a:off x="897941" y="1858061"/>
            <a:ext cx="307238" cy="307238"/>
          </a:xfrm>
          <a:prstGeom prst="rect">
            <a:avLst/>
          </a:prstGeom>
        </p:spPr>
      </p:pic>
      <p:sp>
        <p:nvSpPr>
          <p:cNvPr id="6" name="consulta-texto"/>
          <p:cNvSpPr txBox="1"/>
          <p:nvPr/>
        </p:nvSpPr>
        <p:spPr>
          <a:xfrm>
            <a:off x="1508760" y="1600200"/>
            <a:ext cx="4434840" cy="1234440"/>
          </a:xfrm>
          <a:prstGeom prst="rect">
            <a:avLst/>
          </a:prstGeom>
          <a:noFill/>
          <a:ln/>
        </p:spPr>
        <p:txBody>
          <a:bodyPr wrap="square" lIns="0" tIns="0" rIns="0" bIns="0" rtlCol="0" anchor="ctr"/>
          <a:lstStyle/>
          <a:p>
            <a:pPr indent="0" marL="0">
              <a:buNone/>
            </a:pPr>
            <a:r>
              <a:rPr lang="en-US" sz="1700" i="1" dirty="0">
                <a:solidFill>
                  <a:schemeClr val="tx2"/>
                </a:solidFill>
              </a:rPr>
              <a:t>«¿Hasta cuándo puedo retirar una asignatura? Prepara un borrador de consulta con los requisitos.»</a:t>
            </a:r>
            <a:endParaRPr lang="en-US" sz="1700" dirty="0"/>
          </a:p>
        </p:txBody>
      </p:sp>
      <p:sp>
        <p:nvSpPr>
          <p:cNvPr id="7" name="demo-paso-1"/>
          <p:cNvSpPr/>
          <p:nvPr/>
        </p:nvSpPr>
        <p:spPr>
          <a:xfrm>
            <a:off x="548640" y="3291840"/>
            <a:ext cx="502920" cy="502920"/>
          </a:xfrm>
          <a:prstGeom prst="ellipse">
            <a:avLst/>
          </a:prstGeom>
          <a:solidFill>
            <a:srgbClr val="E3A33A"/>
          </a:solidFill>
          <a:ln/>
        </p:spPr>
      </p:sp>
      <p:sp>
        <p:nvSpPr>
          <p:cNvPr id="8" name="demo-paso-1-n"/>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9" name="demo-paso-1-texto"/>
          <p:cNvSpPr txBox="1"/>
          <p:nvPr/>
        </p:nvSpPr>
        <p:spPr>
          <a:xfrm>
            <a:off x="1280160" y="3291840"/>
            <a:ext cx="4846320" cy="502920"/>
          </a:xfrm>
          <a:prstGeom prst="rect">
            <a:avLst/>
          </a:prstGeom>
          <a:noFill/>
          <a:ln/>
        </p:spPr>
        <p:txBody>
          <a:bodyPr wrap="square" lIns="0" tIns="0" rIns="0" bIns="0" rtlCol="0" anchor="ctr"/>
          <a:lstStyle/>
          <a:p>
            <a:pPr indent="0" marL="0">
              <a:buNone/>
            </a:pPr>
            <a:r>
              <a:rPr lang="en-US" sz="1600" dirty="0">
                <a:solidFill>
                  <a:schemeClr val="tx1"/>
                </a:solidFill>
              </a:rPr>
              <a:t>Consulta la norma y el calendario</a:t>
            </a:r>
            <a:endParaRPr lang="en-US" sz="1600" dirty="0"/>
          </a:p>
        </p:txBody>
      </p:sp>
      <p:sp>
        <p:nvSpPr>
          <p:cNvPr id="10" name="demo-paso-2"/>
          <p:cNvSpPr/>
          <p:nvPr/>
        </p:nvSpPr>
        <p:spPr>
          <a:xfrm>
            <a:off x="548640" y="4069080"/>
            <a:ext cx="502920" cy="502920"/>
          </a:xfrm>
          <a:prstGeom prst="ellipse">
            <a:avLst/>
          </a:prstGeom>
          <a:solidFill>
            <a:srgbClr val="E3A33A"/>
          </a:solidFill>
          <a:ln/>
        </p:spPr>
      </p:sp>
      <p:sp>
        <p:nvSpPr>
          <p:cNvPr id="11" name="demo-paso-2-n"/>
          <p:cNvSpPr txBox="1"/>
          <p:nvPr/>
        </p:nvSpPr>
        <p:spPr>
          <a:xfrm>
            <a:off x="548640" y="406908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2" name="demo-paso-2-texto"/>
          <p:cNvSpPr txBox="1"/>
          <p:nvPr/>
        </p:nvSpPr>
        <p:spPr>
          <a:xfrm>
            <a:off x="1280160" y="4069080"/>
            <a:ext cx="4846320" cy="502920"/>
          </a:xfrm>
          <a:prstGeom prst="rect">
            <a:avLst/>
          </a:prstGeom>
          <a:noFill/>
          <a:ln/>
        </p:spPr>
        <p:txBody>
          <a:bodyPr wrap="square" lIns="0" tIns="0" rIns="0" bIns="0" rtlCol="0" anchor="ctr"/>
          <a:lstStyle/>
          <a:p>
            <a:pPr indent="0" marL="0">
              <a:buNone/>
            </a:pPr>
            <a:r>
              <a:rPr lang="en-US" sz="1600" dirty="0">
                <a:solidFill>
                  <a:schemeClr val="tx1"/>
                </a:solidFill>
              </a:rPr>
              <a:t>Verifica la fecha y guarda el borrador</a:t>
            </a:r>
            <a:endParaRPr lang="en-US" sz="1600" dirty="0"/>
          </a:p>
        </p:txBody>
      </p:sp>
      <p:sp>
        <p:nvSpPr>
          <p:cNvPr id="13" name="demo-paso-3"/>
          <p:cNvSpPr/>
          <p:nvPr/>
        </p:nvSpPr>
        <p:spPr>
          <a:xfrm>
            <a:off x="548640" y="4846320"/>
            <a:ext cx="502920" cy="502920"/>
          </a:xfrm>
          <a:prstGeom prst="ellipse">
            <a:avLst/>
          </a:prstGeom>
          <a:solidFill>
            <a:srgbClr val="E3A33A"/>
          </a:solidFill>
          <a:ln/>
        </p:spPr>
      </p:sp>
      <p:sp>
        <p:nvSpPr>
          <p:cNvPr id="14" name="demo-paso-3-n"/>
          <p:cNvSpPr txBox="1"/>
          <p:nvPr/>
        </p:nvSpPr>
        <p:spPr>
          <a:xfrm>
            <a:off x="548640" y="484632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5" name="demo-paso-3-texto"/>
          <p:cNvSpPr txBox="1"/>
          <p:nvPr/>
        </p:nvSpPr>
        <p:spPr>
          <a:xfrm>
            <a:off x="1280160" y="4846320"/>
            <a:ext cx="4846320" cy="502920"/>
          </a:xfrm>
          <a:prstGeom prst="rect">
            <a:avLst/>
          </a:prstGeom>
          <a:noFill/>
          <a:ln/>
        </p:spPr>
        <p:txBody>
          <a:bodyPr wrap="square" lIns="0" tIns="0" rIns="0" bIns="0" rtlCol="0" anchor="ctr"/>
          <a:lstStyle/>
          <a:p>
            <a:pPr indent="0" marL="0">
              <a:buNone/>
            </a:pPr>
            <a:r>
              <a:rPr lang="en-US" sz="1600" dirty="0">
                <a:solidFill>
                  <a:schemeClr val="tx1"/>
                </a:solidFill>
              </a:rPr>
              <a:t>Muestra cita, traza y registro en Neon</a:t>
            </a:r>
            <a:endParaRPr lang="en-US" sz="1600" dirty="0"/>
          </a:p>
        </p:txBody>
      </p:sp>
      <p:sp>
        <p:nvSpPr>
          <p:cNvPr id="16" name="linea-titulo"/>
          <p:cNvSpPr txBox="1"/>
          <p:nvPr/>
        </p:nvSpPr>
        <p:spPr>
          <a:xfrm>
            <a:off x="6675120" y="1508760"/>
            <a:ext cx="4937760" cy="365760"/>
          </a:xfrm>
          <a:prstGeom prst="rect">
            <a:avLst/>
          </a:prstGeom>
          <a:noFill/>
          <a:ln/>
        </p:spPr>
        <p:txBody>
          <a:bodyPr wrap="square" lIns="0" tIns="0" rIns="0" bIns="0" rtlCol="0" anchor="ctr"/>
          <a:lstStyle/>
          <a:p>
            <a:pPr indent="0" marL="0">
              <a:buNone/>
            </a:pPr>
            <a:r>
              <a:rPr lang="en-US" sz="1500" b="1" dirty="0">
                <a:solidFill>
                  <a:schemeClr val="tx2"/>
                </a:solidFill>
              </a:rPr>
              <a:t>Fecha simulada · semestre 2026-01</a:t>
            </a:r>
            <a:endParaRPr lang="en-US" sz="1500" dirty="0"/>
          </a:p>
        </p:txBody>
      </p:sp>
      <p:sp>
        <p:nvSpPr>
          <p:cNvPr id="17" name="linea"/>
          <p:cNvSpPr/>
          <p:nvPr/>
        </p:nvSpPr>
        <p:spPr>
          <a:xfrm>
            <a:off x="6949440" y="2697480"/>
            <a:ext cx="4389120" cy="0"/>
          </a:xfrm>
          <a:prstGeom prst="line">
            <a:avLst/>
          </a:prstGeom>
          <a:noFill/>
          <a:ln w="38100">
            <a:solidFill>
              <a:srgbClr val="C9D6D3"/>
            </a:solidFill>
            <a:prstDash val="solid"/>
          </a:ln>
        </p:spPr>
      </p:sp>
      <p:sp>
        <p:nvSpPr>
          <p:cNvPr id="18" name="hito-1"/>
          <p:cNvSpPr/>
          <p:nvPr/>
        </p:nvSpPr>
        <p:spPr>
          <a:xfrm>
            <a:off x="6748272" y="2496312"/>
            <a:ext cx="402336" cy="402336"/>
          </a:xfrm>
          <a:prstGeom prst="ellipse">
            <a:avLst/>
          </a:prstGeom>
          <a:solidFill>
            <a:srgbClr val="2E8B57"/>
          </a:solidFill>
          <a:ln w="38100">
            <a:solidFill>
              <a:srgbClr val="FFFFFF"/>
            </a:solidFill>
            <a:prstDash val="solid"/>
          </a:ln>
        </p:spPr>
      </p:sp>
      <p:sp>
        <p:nvSpPr>
          <p:cNvPr id="19" name="hito-1-fecha"/>
          <p:cNvSpPr txBox="1"/>
          <p:nvPr/>
        </p:nvSpPr>
        <p:spPr>
          <a:xfrm>
            <a:off x="6217920" y="201168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06-04</a:t>
            </a:r>
            <a:endParaRPr lang="en-US" sz="1600" dirty="0"/>
          </a:p>
        </p:txBody>
      </p:sp>
      <p:sp>
        <p:nvSpPr>
          <p:cNvPr id="20" name="hito-1-estado"/>
          <p:cNvSpPr txBox="1"/>
          <p:nvPr/>
        </p:nvSpPr>
        <p:spPr>
          <a:xfrm>
            <a:off x="6126480" y="3017520"/>
            <a:ext cx="1645920" cy="365760"/>
          </a:xfrm>
          <a:prstGeom prst="rect">
            <a:avLst/>
          </a:prstGeom>
          <a:noFill/>
          <a:ln/>
        </p:spPr>
        <p:txBody>
          <a:bodyPr wrap="square" lIns="0" tIns="0" rIns="0" bIns="0" rtlCol="0" anchor="ctr"/>
          <a:lstStyle/>
          <a:p>
            <a:pPr algn="ctr" indent="0" marL="0">
              <a:buNone/>
            </a:pPr>
            <a:r>
              <a:rPr lang="en-US" sz="1400" b="1" dirty="0">
                <a:solidFill>
                  <a:schemeClr val="accent3"/>
                </a:solidFill>
              </a:rPr>
              <a:t>Vigente</a:t>
            </a:r>
            <a:endParaRPr lang="en-US" sz="1400" dirty="0"/>
          </a:p>
        </p:txBody>
      </p:sp>
      <p:sp>
        <p:nvSpPr>
          <p:cNvPr id="21" name="hito-2"/>
          <p:cNvSpPr/>
          <p:nvPr/>
        </p:nvSpPr>
        <p:spPr>
          <a:xfrm>
            <a:off x="8942832" y="2496312"/>
            <a:ext cx="402336" cy="402336"/>
          </a:xfrm>
          <a:prstGeom prst="ellipse">
            <a:avLst/>
          </a:prstGeom>
          <a:solidFill>
            <a:srgbClr val="E3A33A"/>
          </a:solidFill>
          <a:ln w="38100">
            <a:solidFill>
              <a:srgbClr val="FFFFFF"/>
            </a:solidFill>
            <a:prstDash val="solid"/>
          </a:ln>
        </p:spPr>
      </p:sp>
      <p:sp>
        <p:nvSpPr>
          <p:cNvPr id="22" name="hito-2-fecha"/>
          <p:cNvSpPr txBox="1"/>
          <p:nvPr/>
        </p:nvSpPr>
        <p:spPr>
          <a:xfrm>
            <a:off x="8412480" y="201168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10-04</a:t>
            </a:r>
            <a:endParaRPr lang="en-US" sz="1600" dirty="0"/>
          </a:p>
        </p:txBody>
      </p:sp>
      <p:sp>
        <p:nvSpPr>
          <p:cNvPr id="23" name="hito-2-estado"/>
          <p:cNvSpPr txBox="1"/>
          <p:nvPr/>
        </p:nvSpPr>
        <p:spPr>
          <a:xfrm>
            <a:off x="8321040" y="3017520"/>
            <a:ext cx="1645920" cy="365760"/>
          </a:xfrm>
          <a:prstGeom prst="rect">
            <a:avLst/>
          </a:prstGeom>
          <a:noFill/>
          <a:ln/>
        </p:spPr>
        <p:txBody>
          <a:bodyPr wrap="square" lIns="0" tIns="0" rIns="0" bIns="0" rtlCol="0" anchor="ctr"/>
          <a:lstStyle/>
          <a:p>
            <a:pPr algn="ctr" indent="0" marL="0">
              <a:buNone/>
            </a:pPr>
            <a:r>
              <a:rPr lang="en-US" sz="1400" b="1" dirty="0">
                <a:solidFill>
                  <a:schemeClr val="tx2"/>
                </a:solidFill>
              </a:rPr>
              <a:t>Cierre de retiro</a:t>
            </a:r>
            <a:endParaRPr lang="en-US" sz="1400" dirty="0"/>
          </a:p>
        </p:txBody>
      </p:sp>
      <p:sp>
        <p:nvSpPr>
          <p:cNvPr id="24" name="hito-3"/>
          <p:cNvSpPr/>
          <p:nvPr/>
        </p:nvSpPr>
        <p:spPr>
          <a:xfrm>
            <a:off x="11137392" y="2496312"/>
            <a:ext cx="402336" cy="402336"/>
          </a:xfrm>
          <a:prstGeom prst="ellipse">
            <a:avLst/>
          </a:prstGeom>
          <a:solidFill>
            <a:srgbClr val="C0473A"/>
          </a:solidFill>
          <a:ln w="38100">
            <a:solidFill>
              <a:srgbClr val="FFFFFF"/>
            </a:solidFill>
            <a:prstDash val="solid"/>
          </a:ln>
        </p:spPr>
      </p:sp>
      <p:sp>
        <p:nvSpPr>
          <p:cNvPr id="25" name="hito-3-fecha"/>
          <p:cNvSpPr txBox="1"/>
          <p:nvPr/>
        </p:nvSpPr>
        <p:spPr>
          <a:xfrm>
            <a:off x="10607040" y="201168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11-04</a:t>
            </a:r>
            <a:endParaRPr lang="en-US" sz="1600" dirty="0"/>
          </a:p>
        </p:txBody>
      </p:sp>
      <p:sp>
        <p:nvSpPr>
          <p:cNvPr id="26" name="hito-3-estado"/>
          <p:cNvSpPr txBox="1"/>
          <p:nvPr/>
        </p:nvSpPr>
        <p:spPr>
          <a:xfrm>
            <a:off x="10515600" y="3017520"/>
            <a:ext cx="1645920" cy="365760"/>
          </a:xfrm>
          <a:prstGeom prst="rect">
            <a:avLst/>
          </a:prstGeom>
          <a:noFill/>
          <a:ln/>
        </p:spPr>
        <p:txBody>
          <a:bodyPr wrap="square" lIns="0" tIns="0" rIns="0" bIns="0" rtlCol="0" anchor="ctr"/>
          <a:lstStyle/>
          <a:p>
            <a:pPr algn="ctr" indent="0" marL="0">
              <a:buNone/>
            </a:pPr>
            <a:r>
              <a:rPr lang="en-US" sz="1400" b="1" dirty="0">
                <a:solidFill>
                  <a:schemeClr val="accent4"/>
                </a:solidFill>
              </a:rPr>
              <a:t>Vencido</a:t>
            </a:r>
            <a:endParaRPr lang="en-US" sz="1400" dirty="0"/>
          </a:p>
        </p:txBody>
      </p:sp>
      <p:sp>
        <p:nvSpPr>
          <p:cNvPr id="27" name="resultado"/>
          <p:cNvSpPr/>
          <p:nvPr/>
        </p:nvSpPr>
        <p:spPr>
          <a:xfrm>
            <a:off x="6675120" y="3794760"/>
            <a:ext cx="4937760" cy="1920240"/>
          </a:xfrm>
          <a:prstGeom prst="roundRect">
            <a:avLst>
              <a:gd name="adj" fmla="val 5714"/>
            </a:avLst>
          </a:prstGeom>
          <a:solidFill>
            <a:srgbClr val="FFFFFF"/>
          </a:solidFill>
          <a:ln w="19050">
            <a:solidFill>
              <a:srgbClr val="E8F1EF"/>
            </a:solidFill>
            <a:prstDash val="solid"/>
          </a:ln>
          <a:effectLst>
            <a:outerShdw sx="100000" sy="100000" kx="0" ky="0" algn="bl" rotWithShape="0" blurRad="76200" dist="25400" dir="5400000">
              <a:srgbClr val="000000">
                <a:alpha val="12000"/>
              </a:srgbClr>
            </a:outerShdw>
          </a:effectLst>
        </p:spPr>
      </p:sp>
      <p:sp>
        <p:nvSpPr>
          <p:cNvPr id="28" name="resultado-circulo"/>
          <p:cNvSpPr/>
          <p:nvPr/>
        </p:nvSpPr>
        <p:spPr>
          <a:xfrm>
            <a:off x="6903720" y="4023360"/>
            <a:ext cx="548640" cy="548640"/>
          </a:xfrm>
          <a:prstGeom prst="ellipse">
            <a:avLst/>
          </a:prstGeom>
          <a:solidFill>
            <a:srgbClr val="12343B"/>
          </a:solidFill>
          <a:ln/>
        </p:spPr>
      </p:sp>
      <p:pic>
        <p:nvPicPr>
          <p:cNvPr id="29" name="resultado-icono" descr="preencoded.png">    </p:cNvPr>
          <p:cNvPicPr>
            <a:picLocks noChangeAspect="1"/>
          </p:cNvPicPr>
          <p:nvPr/>
        </p:nvPicPr>
        <p:blipFill>
          <a:blip r:embed="rId2"/>
          <a:stretch>
            <a:fillRect/>
          </a:stretch>
        </p:blipFill>
        <p:spPr>
          <a:xfrm>
            <a:off x="7024421" y="4144061"/>
            <a:ext cx="307238" cy="307238"/>
          </a:xfrm>
          <a:prstGeom prst="rect">
            <a:avLst/>
          </a:prstGeom>
        </p:spPr>
      </p:pic>
      <p:sp>
        <p:nvSpPr>
          <p:cNvPr id="30" name="resultado-titulo"/>
          <p:cNvSpPr txBox="1"/>
          <p:nvPr/>
        </p:nvSpPr>
        <p:spPr>
          <a:xfrm>
            <a:off x="7635240" y="4023360"/>
            <a:ext cx="3749040" cy="548640"/>
          </a:xfrm>
          <a:prstGeom prst="rect">
            <a:avLst/>
          </a:prstGeom>
          <a:noFill/>
          <a:ln/>
        </p:spPr>
        <p:txBody>
          <a:bodyPr wrap="square" lIns="0" tIns="0" rIns="0" bIns="0" rtlCol="0" anchor="ctr"/>
          <a:lstStyle/>
          <a:p>
            <a:pPr indent="0" marL="0">
              <a:buNone/>
            </a:pPr>
            <a:r>
              <a:rPr lang="en-US" sz="1600" b="1" dirty="0">
                <a:solidFill>
                  <a:schemeClr val="tx2"/>
                </a:solidFill>
              </a:rPr>
              <a:t>Respuesta esperada</a:t>
            </a:r>
            <a:endParaRPr lang="en-US" sz="1600" dirty="0"/>
          </a:p>
        </p:txBody>
      </p:sp>
      <p:sp>
        <p:nvSpPr>
          <p:cNvPr id="31" name="resultado-lista"/>
          <p:cNvSpPr txBox="1"/>
          <p:nvPr/>
        </p:nvSpPr>
        <p:spPr>
          <a:xfrm>
            <a:off x="6903720" y="4663440"/>
            <a:ext cx="4526280" cy="960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Plazo hasta el 10-04-2026</a:t>
            </a:r>
            <a:endParaRPr lang="en-US" sz="1400" dirty="0"/>
          </a:p>
          <a:p>
            <a:pPr marL="342900" indent="-342900">
              <a:spcAft>
                <a:spcPts val="300"/>
              </a:spcAft>
              <a:buSzPct val="100000"/>
              <a:buChar char="•"/>
            </a:pPr>
            <a:r>
              <a:rPr lang="en-US" sz="1400" dirty="0">
                <a:solidFill>
                  <a:schemeClr val="tx1"/>
                </a:solidFill>
              </a:rPr>
              <a:t>Carga mínima de 12 créditos SCT</a:t>
            </a:r>
            <a:endParaRPr lang="en-US" sz="1400" dirty="0"/>
          </a:p>
          <a:p>
            <a:pPr marL="342900" indent="-342900">
              <a:spcAft>
                <a:spcPts val="300"/>
              </a:spcAft>
              <a:buSzPct val="100000"/>
              <a:buChar char="•"/>
            </a:pPr>
            <a:r>
              <a:rPr lang="en-US" sz="1400" dirty="0">
                <a:solidFill>
                  <a:schemeClr val="tx1"/>
                </a:solidFill>
              </a:rPr>
              <a:t>Cita del Art. 42 y del calendario</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Conclusiones y aprendizajes</a:t>
            </a:r>
            <a:endParaRPr lang="en-US" sz="3600" dirty="0"/>
          </a:p>
        </p:txBody>
      </p:sp>
      <p:sp>
        <p:nvSpPr>
          <p:cNvPr id="3" name="subtitulo"/>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600" dirty="0">
                <a:solidFill>
                  <a:schemeClr val="accent5"/>
                </a:solidFill>
              </a:rPr>
              <a:t>Síntesis de verificación, límites de arquitectura y trabajo del autor</a:t>
            </a:r>
            <a:endParaRPr lang="en-US" sz="1600" dirty="0"/>
          </a:p>
        </p:txBody>
      </p:sp>
      <p:sp>
        <p:nvSpPr>
          <p:cNvPr id="4" name="columna-1"/>
          <p:cNvSpPr/>
          <p:nvPr/>
        </p:nvSpPr>
        <p:spPr>
          <a:xfrm>
            <a:off x="548640" y="1828800"/>
            <a:ext cx="3474720" cy="3749040"/>
          </a:xfrm>
          <a:prstGeom prst="roundRect">
            <a:avLst>
              <a:gd name="adj" fmla="val 3947"/>
            </a:avLst>
          </a:prstGeom>
          <a:solidFill>
            <a:srgbClr val="FFFFFF">
              <a:alpha val="10000"/>
            </a:srgbClr>
          </a:solidFill>
          <a:ln/>
        </p:spPr>
      </p:sp>
      <p:sp>
        <p:nvSpPr>
          <p:cNvPr id="5" name="columna-1-circulo"/>
          <p:cNvSpPr/>
          <p:nvPr/>
        </p:nvSpPr>
        <p:spPr>
          <a:xfrm>
            <a:off x="822960" y="2103120"/>
            <a:ext cx="640080" cy="640080"/>
          </a:xfrm>
          <a:prstGeom prst="ellipse">
            <a:avLst/>
          </a:prstGeom>
          <a:solidFill>
            <a:srgbClr val="2E8B57"/>
          </a:solidFill>
          <a:ln/>
        </p:spPr>
      </p:sp>
      <p:pic>
        <p:nvPicPr>
          <p:cNvPr id="6" name="columna-1-icono" descr="preencoded.png">    </p:cNvPr>
          <p:cNvPicPr>
            <a:picLocks noChangeAspect="1"/>
          </p:cNvPicPr>
          <p:nvPr/>
        </p:nvPicPr>
        <p:blipFill>
          <a:blip r:embed="rId1"/>
          <a:stretch>
            <a:fillRect/>
          </a:stretch>
        </p:blipFill>
        <p:spPr>
          <a:xfrm>
            <a:off x="963778" y="2243938"/>
            <a:ext cx="358445" cy="358445"/>
          </a:xfrm>
          <a:prstGeom prst="rect">
            <a:avLst/>
          </a:prstGeom>
        </p:spPr>
      </p:pic>
      <p:sp>
        <p:nvSpPr>
          <p:cNvPr id="7" name="columna-1-titulo"/>
          <p:cNvSpPr txBox="1"/>
          <p:nvPr/>
        </p:nvSpPr>
        <p:spPr>
          <a:xfrm>
            <a:off x="822960" y="2880360"/>
            <a:ext cx="2971800" cy="457200"/>
          </a:xfrm>
          <a:prstGeom prst="rect">
            <a:avLst/>
          </a:prstGeom>
          <a:noFill/>
          <a:ln/>
        </p:spPr>
        <p:txBody>
          <a:bodyPr wrap="square" lIns="0" tIns="0" rIns="0" bIns="0" rtlCol="0" anchor="ctr"/>
          <a:lstStyle/>
          <a:p>
            <a:pPr indent="0" marL="0">
              <a:buNone/>
            </a:pPr>
            <a:r>
              <a:rPr lang="en-US" sz="1800" b="1" dirty="0">
                <a:solidFill>
                  <a:schemeClr val="bg1"/>
                </a:solidFill>
              </a:rPr>
              <a:t>Qué pudimos comprobar</a:t>
            </a:r>
            <a:endParaRPr lang="en-US" sz="1800" dirty="0"/>
          </a:p>
        </p:txBody>
      </p:sp>
      <p:sp>
        <p:nvSpPr>
          <p:cNvPr id="8" name="columna-1-lista"/>
          <p:cNvSpPr txBox="1"/>
          <p:nvPr/>
        </p:nvSpPr>
        <p:spPr>
          <a:xfrm>
            <a:off x="822960" y="3474720"/>
            <a:ext cx="2971800" cy="1920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Memoria k=5 persistida en Neon (10 mensajes)</a:t>
            </a:r>
            <a:endParaRPr lang="en-US" sz="1500" dirty="0"/>
          </a:p>
          <a:p>
            <a:pPr marL="342900" indent="-342900">
              <a:spcAft>
                <a:spcPts val="1000"/>
              </a:spcAft>
              <a:buSzPct val="100000"/>
              <a:buChar char="•"/>
            </a:pPr>
            <a:r>
              <a:rPr lang="en-US" sz="1500" dirty="0">
                <a:solidFill>
                  <a:schemeClr val="bg2"/>
                </a:solidFill>
              </a:rPr>
              <a:t>78 pruebas y control de presupuesto</a:t>
            </a:r>
            <a:endParaRPr lang="en-US" sz="1500" dirty="0"/>
          </a:p>
          <a:p>
            <a:pPr marL="342900" indent="-342900">
              <a:spcAft>
                <a:spcPts val="1000"/>
              </a:spcAft>
              <a:buSzPct val="100000"/>
              <a:buChar char="•"/>
            </a:pPr>
            <a:r>
              <a:rPr lang="en-US" sz="1500" dirty="0">
                <a:solidFill>
                  <a:schemeClr val="bg2"/>
                </a:solidFill>
              </a:rPr>
              <a:t>Ensayo real: 3 llamadas y borrador guardado</a:t>
            </a:r>
            <a:endParaRPr lang="en-US" sz="1500" dirty="0"/>
          </a:p>
        </p:txBody>
      </p:sp>
      <p:sp>
        <p:nvSpPr>
          <p:cNvPr id="9" name="columna-2"/>
          <p:cNvSpPr/>
          <p:nvPr/>
        </p:nvSpPr>
        <p:spPr>
          <a:xfrm>
            <a:off x="4343400" y="1828800"/>
            <a:ext cx="3474720" cy="3749040"/>
          </a:xfrm>
          <a:prstGeom prst="roundRect">
            <a:avLst>
              <a:gd name="adj" fmla="val 3947"/>
            </a:avLst>
          </a:prstGeom>
          <a:solidFill>
            <a:srgbClr val="FFFFFF">
              <a:alpha val="10000"/>
            </a:srgbClr>
          </a:solidFill>
          <a:ln/>
        </p:spPr>
      </p:sp>
      <p:sp>
        <p:nvSpPr>
          <p:cNvPr id="10" name="columna-2-circulo"/>
          <p:cNvSpPr/>
          <p:nvPr/>
        </p:nvSpPr>
        <p:spPr>
          <a:xfrm>
            <a:off x="4617720" y="2103120"/>
            <a:ext cx="640080" cy="640080"/>
          </a:xfrm>
          <a:prstGeom prst="ellipse">
            <a:avLst/>
          </a:prstGeom>
          <a:solidFill>
            <a:srgbClr val="E3A33A"/>
          </a:solidFill>
          <a:ln/>
        </p:spPr>
      </p:sp>
      <p:pic>
        <p:nvPicPr>
          <p:cNvPr id="11" name="columna-2-icono" descr="preencoded.png">    </p:cNvPr>
          <p:cNvPicPr>
            <a:picLocks noChangeAspect="1"/>
          </p:cNvPicPr>
          <p:nvPr/>
        </p:nvPicPr>
        <p:blipFill>
          <a:blip r:embed="rId2"/>
          <a:stretch>
            <a:fillRect/>
          </a:stretch>
        </p:blipFill>
        <p:spPr>
          <a:xfrm>
            <a:off x="4758538" y="2243938"/>
            <a:ext cx="358445" cy="358445"/>
          </a:xfrm>
          <a:prstGeom prst="rect">
            <a:avLst/>
          </a:prstGeom>
        </p:spPr>
      </p:pic>
      <p:sp>
        <p:nvSpPr>
          <p:cNvPr id="12" name="columna-2-titulo"/>
          <p:cNvSpPr txBox="1"/>
          <p:nvPr/>
        </p:nvSpPr>
        <p:spPr>
          <a:xfrm>
            <a:off x="4617720" y="2880360"/>
            <a:ext cx="2971800" cy="457200"/>
          </a:xfrm>
          <a:prstGeom prst="rect">
            <a:avLst/>
          </a:prstGeom>
          <a:noFill/>
          <a:ln/>
        </p:spPr>
        <p:txBody>
          <a:bodyPr wrap="square" lIns="0" tIns="0" rIns="0" bIns="0" rtlCol="0" anchor="ctr"/>
          <a:lstStyle/>
          <a:p>
            <a:pPr indent="0" marL="0">
              <a:buNone/>
            </a:pPr>
            <a:r>
              <a:rPr lang="en-US" sz="1800" b="1" dirty="0">
                <a:solidFill>
                  <a:schemeClr val="bg1"/>
                </a:solidFill>
              </a:rPr>
              <a:t>Qué límite sigue pendiente</a:t>
            </a:r>
            <a:endParaRPr lang="en-US" sz="1800" dirty="0"/>
          </a:p>
        </p:txBody>
      </p:sp>
      <p:sp>
        <p:nvSpPr>
          <p:cNvPr id="13" name="columna-2-lista"/>
          <p:cNvSpPr txBox="1"/>
          <p:nvPr/>
        </p:nvSpPr>
        <p:spPr>
          <a:xfrm>
            <a:off x="4617720" y="3474720"/>
            <a:ext cx="2971800" cy="1920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Tope de 24.000 bytes por solicitud</a:t>
            </a:r>
            <a:endParaRPr lang="en-US" sz="1500" dirty="0"/>
          </a:p>
          <a:p>
            <a:pPr marL="342900" indent="-342900">
              <a:spcAft>
                <a:spcPts val="1000"/>
              </a:spcAft>
              <a:buSzPct val="100000"/>
              <a:buChar char="•"/>
            </a:pPr>
            <a:r>
              <a:rPr lang="en-US" sz="1500" dirty="0">
                <a:solidFill>
                  <a:schemeClr val="bg2"/>
                </a:solidFill>
              </a:rPr>
              <a:t>USD 0,75: sin pruebas masivas pagadas</a:t>
            </a:r>
            <a:endParaRPr lang="en-US" sz="1500" dirty="0"/>
          </a:p>
          <a:p>
            <a:pPr marL="342900" indent="-342900">
              <a:spcAft>
                <a:spcPts val="1000"/>
              </a:spcAft>
              <a:buSzPct val="100000"/>
              <a:buChar char="•"/>
            </a:pPr>
            <a:r>
              <a:rPr lang="en-US" sz="1500" dirty="0">
                <a:solidFill>
                  <a:schemeClr val="bg2"/>
                </a:solidFill>
              </a:rPr>
              <a:t>Prototipo: sin autenticación ni sistemas reales</a:t>
            </a:r>
            <a:endParaRPr lang="en-US" sz="1500" dirty="0"/>
          </a:p>
        </p:txBody>
      </p:sp>
      <p:sp>
        <p:nvSpPr>
          <p:cNvPr id="14" name="columna-3"/>
          <p:cNvSpPr/>
          <p:nvPr/>
        </p:nvSpPr>
        <p:spPr>
          <a:xfrm>
            <a:off x="8138160" y="1828800"/>
            <a:ext cx="3474720" cy="3749040"/>
          </a:xfrm>
          <a:prstGeom prst="roundRect">
            <a:avLst>
              <a:gd name="adj" fmla="val 3947"/>
            </a:avLst>
          </a:prstGeom>
          <a:solidFill>
            <a:srgbClr val="FFFFFF">
              <a:alpha val="10000"/>
            </a:srgbClr>
          </a:solidFill>
          <a:ln/>
        </p:spPr>
      </p:sp>
      <p:sp>
        <p:nvSpPr>
          <p:cNvPr id="15" name="columna-3-circulo"/>
          <p:cNvSpPr/>
          <p:nvPr/>
        </p:nvSpPr>
        <p:spPr>
          <a:xfrm>
            <a:off x="8412480" y="2103120"/>
            <a:ext cx="640080" cy="640080"/>
          </a:xfrm>
          <a:prstGeom prst="ellipse">
            <a:avLst/>
          </a:prstGeom>
          <a:solidFill>
            <a:srgbClr val="7FA8A3"/>
          </a:solidFill>
          <a:ln/>
        </p:spPr>
      </p:sp>
      <p:pic>
        <p:nvPicPr>
          <p:cNvPr id="16" name="columna-3-icono" descr="preencoded.png">    </p:cNvPr>
          <p:cNvPicPr>
            <a:picLocks noChangeAspect="1"/>
          </p:cNvPicPr>
          <p:nvPr/>
        </p:nvPicPr>
        <p:blipFill>
          <a:blip r:embed="rId3"/>
          <a:stretch>
            <a:fillRect/>
          </a:stretch>
        </p:blipFill>
        <p:spPr>
          <a:xfrm>
            <a:off x="8553298" y="2243938"/>
            <a:ext cx="358445" cy="358445"/>
          </a:xfrm>
          <a:prstGeom prst="rect">
            <a:avLst/>
          </a:prstGeom>
        </p:spPr>
      </p:pic>
      <p:sp>
        <p:nvSpPr>
          <p:cNvPr id="17" name="columna-3-titulo"/>
          <p:cNvSpPr txBox="1"/>
          <p:nvPr/>
        </p:nvSpPr>
        <p:spPr>
          <a:xfrm>
            <a:off x="8412480" y="2880360"/>
            <a:ext cx="2971800" cy="457200"/>
          </a:xfrm>
          <a:prstGeom prst="rect">
            <a:avLst/>
          </a:prstGeom>
          <a:noFill/>
          <a:ln/>
        </p:spPr>
        <p:txBody>
          <a:bodyPr wrap="square" lIns="0" tIns="0" rIns="0" bIns="0" rtlCol="0" anchor="ctr"/>
          <a:lstStyle/>
          <a:p>
            <a:pPr indent="0" marL="0">
              <a:buNone/>
            </a:pPr>
            <a:r>
              <a:rPr lang="en-US" sz="1800" b="1" dirty="0">
                <a:solidFill>
                  <a:schemeClr val="bg1"/>
                </a:solidFill>
              </a:rPr>
              <a:t>Aprendizajes y aporte personal</a:t>
            </a:r>
            <a:endParaRPr lang="en-US" sz="1800" dirty="0"/>
          </a:p>
        </p:txBody>
      </p:sp>
      <p:sp>
        <p:nvSpPr>
          <p:cNvPr id="18" name="columna-3-lista"/>
          <p:cNvSpPr txBox="1"/>
          <p:nvPr/>
        </p:nvSpPr>
        <p:spPr>
          <a:xfrm>
            <a:off x="8412480" y="3474720"/>
            <a:ext cx="2971800" cy="1920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Persistencia en Neon</a:t>
            </a:r>
            <a:endParaRPr lang="en-US" sz="1500" dirty="0"/>
          </a:p>
          <a:p>
            <a:pPr marL="342900" indent="-342900">
              <a:spcAft>
                <a:spcPts val="1000"/>
              </a:spcAft>
              <a:buSzPct val="100000"/>
              <a:buChar char="•"/>
            </a:pPr>
            <a:r>
              <a:rPr lang="en-US" sz="1500" dirty="0">
                <a:solidFill>
                  <a:schemeClr val="bg2"/>
                </a:solidFill>
              </a:rPr>
              <a:t>Compatibilidad con OpenRouter (effort=low)</a:t>
            </a:r>
            <a:endParaRPr lang="en-US" sz="1500" dirty="0"/>
          </a:p>
          <a:p>
            <a:pPr marL="342900" indent="-342900">
              <a:spcAft>
                <a:spcPts val="1000"/>
              </a:spcAft>
              <a:buSzPct val="100000"/>
              <a:buChar char="•"/>
            </a:pPr>
            <a:r>
              <a:rPr lang="en-US" sz="1500" dirty="0">
                <a:solidFill>
                  <a:schemeClr val="bg2"/>
                </a:solidFill>
              </a:rPr>
              <a:t>Auditoría de trazas reales</a:t>
            </a:r>
            <a:endParaRPr lang="en-US" sz="1500" dirty="0"/>
          </a:p>
        </p:txBody>
      </p:sp>
      <p:sp>
        <p:nvSpPr>
          <p:cNvPr id="19" name="evidencia"/>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200" i="1" dirty="0">
                <a:solidFill>
                  <a:schemeClr val="accent5"/>
                </a:solidFill>
              </a:rPr>
              <a:t>Evidencia: prueba_neon_real.json · test_manual_y_respuesta.py</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A8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Evidencia y preguntas</a:t>
            </a:r>
            <a:endParaRPr lang="en-US" sz="3600" dirty="0"/>
          </a:p>
        </p:txBody>
      </p:sp>
      <p:sp>
        <p:nvSpPr>
          <p:cNvPr id="3" name="pruebas"/>
          <p:cNvSpPr/>
          <p:nvPr/>
        </p:nvSpPr>
        <p:spPr>
          <a:xfrm>
            <a:off x="548640" y="1508760"/>
            <a:ext cx="3383280" cy="3703320"/>
          </a:xfrm>
          <a:prstGeom prst="roundRect">
            <a:avLst>
              <a:gd name="adj" fmla="val 4054"/>
            </a:avLst>
          </a:prstGeom>
          <a:solidFill>
            <a:srgbClr val="12343B"/>
          </a:solidFill>
          <a:ln/>
        </p:spPr>
      </p:sp>
      <p:sp>
        <p:nvSpPr>
          <p:cNvPr id="4" name="pruebas-numero"/>
          <p:cNvSpPr txBox="1"/>
          <p:nvPr/>
        </p:nvSpPr>
        <p:spPr>
          <a:xfrm>
            <a:off x="777240" y="1783080"/>
            <a:ext cx="2926080" cy="1371600"/>
          </a:xfrm>
          <a:prstGeom prst="rect">
            <a:avLst/>
          </a:prstGeom>
          <a:noFill/>
          <a:ln/>
        </p:spPr>
        <p:txBody>
          <a:bodyPr wrap="square" lIns="0" tIns="0" rIns="0" bIns="0" rtlCol="0" anchor="ctr"/>
          <a:lstStyle/>
          <a:p>
            <a:pPr indent="0" marL="0">
              <a:buNone/>
            </a:pPr>
            <a:r>
              <a:rPr lang="en-US" sz="8800" b="1" dirty="0">
                <a:solidFill>
                  <a:schemeClr val="accent2"/>
                </a:solidFill>
                <a:latin typeface="Cambria" pitchFamily="34" charset="0"/>
                <a:ea typeface="Cambria" pitchFamily="34" charset="-122"/>
                <a:cs typeface="Cambria" pitchFamily="34" charset="-120"/>
              </a:rPr>
              <a:t>78</a:t>
            </a:r>
            <a:endParaRPr lang="en-US" sz="8800" dirty="0"/>
          </a:p>
        </p:txBody>
      </p:sp>
      <p:sp>
        <p:nvSpPr>
          <p:cNvPr id="5" name="pruebas-texto"/>
          <p:cNvSpPr txBox="1"/>
          <p:nvPr/>
        </p:nvSpPr>
        <p:spPr>
          <a:xfrm>
            <a:off x="777240" y="3200400"/>
            <a:ext cx="2926080" cy="685800"/>
          </a:xfrm>
          <a:prstGeom prst="rect">
            <a:avLst/>
          </a:prstGeom>
          <a:noFill/>
          <a:ln/>
        </p:spPr>
        <p:txBody>
          <a:bodyPr wrap="square" lIns="0" tIns="0" rIns="0" bIns="0" rtlCol="0" anchor="t"/>
          <a:lstStyle/>
          <a:p>
            <a:pPr indent="0" marL="0">
              <a:buNone/>
            </a:pPr>
            <a:r>
              <a:rPr lang="en-US" sz="1800" b="1" dirty="0">
                <a:solidFill>
                  <a:schemeClr val="bg1"/>
                </a:solidFill>
              </a:rPr>
              <a:t>pruebas automáticas aprobadas</a:t>
            </a:r>
            <a:endParaRPr lang="en-US" sz="1800" dirty="0"/>
          </a:p>
        </p:txBody>
      </p:sp>
      <p:sp>
        <p:nvSpPr>
          <p:cNvPr id="6" name="pruebas-detalle"/>
          <p:cNvSpPr txBox="1"/>
          <p:nvPr/>
        </p:nvSpPr>
        <p:spPr>
          <a:xfrm>
            <a:off x="777240" y="4069080"/>
            <a:ext cx="2926080" cy="822960"/>
          </a:xfrm>
          <a:prstGeom prst="rect">
            <a:avLst/>
          </a:prstGeom>
          <a:noFill/>
          <a:ln/>
        </p:spPr>
        <p:txBody>
          <a:bodyPr wrap="square" lIns="0" tIns="0" rIns="0" bIns="0" rtlCol="0" anchor="t"/>
          <a:lstStyle/>
          <a:p>
            <a:pPr indent="0" marL="0">
              <a:buNone/>
            </a:pPr>
            <a:r>
              <a:rPr lang="en-US" sz="1300" dirty="0">
                <a:solidFill>
                  <a:schemeClr val="bg2"/>
                </a:solidFill>
              </a:rPr>
              <a:t>73 sin IA + 5 PostgreSQL (PGlite) · el SDK de IA es simulado</a:t>
            </a:r>
            <a:endParaRPr lang="en-US" sz="1300" dirty="0"/>
          </a:p>
        </p:txBody>
      </p:sp>
      <p:pic>
        <p:nvPicPr>
          <p:cNvPr id="7" name="check-1-icono" descr="preencoded.png">    </p:cNvPr>
          <p:cNvPicPr>
            <a:picLocks noChangeAspect="1"/>
          </p:cNvPicPr>
          <p:nvPr/>
        </p:nvPicPr>
        <p:blipFill>
          <a:blip r:embed="rId1"/>
          <a:stretch>
            <a:fillRect/>
          </a:stretch>
        </p:blipFill>
        <p:spPr>
          <a:xfrm>
            <a:off x="4389120" y="1627632"/>
            <a:ext cx="411480" cy="411480"/>
          </a:xfrm>
          <a:prstGeom prst="rect">
            <a:avLst/>
          </a:prstGeom>
        </p:spPr>
      </p:pic>
      <p:sp>
        <p:nvSpPr>
          <p:cNvPr id="8" name="check-1-texto"/>
          <p:cNvSpPr txBox="1"/>
          <p:nvPr/>
        </p:nvSpPr>
        <p:spPr>
          <a:xfrm>
            <a:off x="5029200" y="1554480"/>
            <a:ext cx="6583680" cy="548640"/>
          </a:xfrm>
          <a:prstGeom prst="rect">
            <a:avLst/>
          </a:prstGeom>
          <a:noFill/>
          <a:ln/>
        </p:spPr>
        <p:txBody>
          <a:bodyPr wrap="square" lIns="0" tIns="0" rIns="0" bIns="0" rtlCol="0" anchor="ctr"/>
          <a:lstStyle/>
          <a:p>
            <a:pPr indent="0" marL="0">
              <a:buNone/>
            </a:pPr>
            <a:r>
              <a:rPr lang="en-US" sz="1600" dirty="0">
                <a:solidFill>
                  <a:schemeClr val="tx1"/>
                </a:solidFill>
              </a:rPr>
              <a:t>Manual original: 4 archivos y 17 fragmentos</a:t>
            </a:r>
            <a:endParaRPr lang="en-US" sz="1600" dirty="0"/>
          </a:p>
        </p:txBody>
      </p:sp>
      <p:pic>
        <p:nvPicPr>
          <p:cNvPr id="9" name="check-2-icono" descr="preencoded.png">    </p:cNvPr>
          <p:cNvPicPr>
            <a:picLocks noChangeAspect="1"/>
          </p:cNvPicPr>
          <p:nvPr/>
        </p:nvPicPr>
        <p:blipFill>
          <a:blip r:embed="rId2"/>
          <a:stretch>
            <a:fillRect/>
          </a:stretch>
        </p:blipFill>
        <p:spPr>
          <a:xfrm>
            <a:off x="4389120" y="2359152"/>
            <a:ext cx="411480" cy="411480"/>
          </a:xfrm>
          <a:prstGeom prst="rect">
            <a:avLst/>
          </a:prstGeom>
        </p:spPr>
      </p:pic>
      <p:sp>
        <p:nvSpPr>
          <p:cNvPr id="10" name="check-2-texto"/>
          <p:cNvSpPr txBox="1"/>
          <p:nvPr/>
        </p:nvSpPr>
        <p:spPr>
          <a:xfrm>
            <a:off x="5029200" y="2286000"/>
            <a:ext cx="6583680" cy="548640"/>
          </a:xfrm>
          <a:prstGeom prst="rect">
            <a:avLst/>
          </a:prstGeom>
          <a:noFill/>
          <a:ln/>
        </p:spPr>
        <p:txBody>
          <a:bodyPr wrap="square" lIns="0" tIns="0" rIns="0" bIns="0" rtlCol="0" anchor="ctr"/>
          <a:lstStyle/>
          <a:p>
            <a:pPr indent="0" marL="0">
              <a:buNone/>
            </a:pPr>
            <a:r>
              <a:rPr lang="en-US" sz="1600" dirty="0">
                <a:solidFill>
                  <a:schemeClr val="tx1"/>
                </a:solidFill>
              </a:rPr>
              <a:t>Neon: k = 5, persistencia y borrado verificados</a:t>
            </a:r>
            <a:endParaRPr lang="en-US" sz="1600" dirty="0"/>
          </a:p>
        </p:txBody>
      </p:sp>
      <p:pic>
        <p:nvPicPr>
          <p:cNvPr id="11" name="check-3-icono" descr="preencoded.png">    </p:cNvPr>
          <p:cNvPicPr>
            <a:picLocks noChangeAspect="1"/>
          </p:cNvPicPr>
          <p:nvPr/>
        </p:nvPicPr>
        <p:blipFill>
          <a:blip r:embed="rId3"/>
          <a:stretch>
            <a:fillRect/>
          </a:stretch>
        </p:blipFill>
        <p:spPr>
          <a:xfrm>
            <a:off x="4389120" y="3090672"/>
            <a:ext cx="411480" cy="411480"/>
          </a:xfrm>
          <a:prstGeom prst="rect">
            <a:avLst/>
          </a:prstGeom>
        </p:spPr>
      </p:pic>
      <p:sp>
        <p:nvSpPr>
          <p:cNvPr id="12" name="check-3-texto"/>
          <p:cNvSpPr txBox="1"/>
          <p:nvPr/>
        </p:nvSpPr>
        <p:spPr>
          <a:xfrm>
            <a:off x="5029200" y="3017520"/>
            <a:ext cx="6583680" cy="548640"/>
          </a:xfrm>
          <a:prstGeom prst="rect">
            <a:avLst/>
          </a:prstGeom>
          <a:noFill/>
          <a:ln/>
        </p:spPr>
        <p:txBody>
          <a:bodyPr wrap="square" lIns="0" tIns="0" rIns="0" bIns="0" rtlCol="0" anchor="ctr"/>
          <a:lstStyle/>
          <a:p>
            <a:pPr indent="0" marL="0">
              <a:buNone/>
            </a:pPr>
            <a:r>
              <a:rPr lang="en-US" sz="1600" dirty="0">
                <a:solidFill>
                  <a:schemeClr val="tx1"/>
                </a:solidFill>
              </a:rPr>
              <a:t>Primer ensayo real: falló el cierre por citas; corregido</a:t>
            </a:r>
            <a:endParaRPr lang="en-US" sz="1600" dirty="0"/>
          </a:p>
        </p:txBody>
      </p:sp>
      <p:pic>
        <p:nvPicPr>
          <p:cNvPr id="13" name="check-4-icono" descr="preencoded.png">    </p:cNvPr>
          <p:cNvPicPr>
            <a:picLocks noChangeAspect="1"/>
          </p:cNvPicPr>
          <p:nvPr/>
        </p:nvPicPr>
        <p:blipFill>
          <a:blip r:embed="rId4"/>
          <a:stretch>
            <a:fillRect/>
          </a:stretch>
        </p:blipFill>
        <p:spPr>
          <a:xfrm>
            <a:off x="4389120" y="3822192"/>
            <a:ext cx="411480" cy="411480"/>
          </a:xfrm>
          <a:prstGeom prst="rect">
            <a:avLst/>
          </a:prstGeom>
        </p:spPr>
      </p:pic>
      <p:sp>
        <p:nvSpPr>
          <p:cNvPr id="14" name="check-4-texto"/>
          <p:cNvSpPr txBox="1"/>
          <p:nvPr/>
        </p:nvSpPr>
        <p:spPr>
          <a:xfrm>
            <a:off x="5029200" y="3749040"/>
            <a:ext cx="6583680" cy="548640"/>
          </a:xfrm>
          <a:prstGeom prst="rect">
            <a:avLst/>
          </a:prstGeom>
          <a:noFill/>
          <a:ln/>
        </p:spPr>
        <p:txBody>
          <a:bodyPr wrap="square" lIns="0" tIns="0" rIns="0" bIns="0" rtlCol="0" anchor="ctr"/>
          <a:lstStyle/>
          <a:p>
            <a:pPr indent="0" marL="0">
              <a:buNone/>
            </a:pPr>
            <a:r>
              <a:rPr lang="en-US" sz="1600" dirty="0">
                <a:solidFill>
                  <a:schemeClr val="tx1"/>
                </a:solidFill>
              </a:rPr>
              <a:t>Ensayo final en Colab: respuesta con cita validada</a:t>
            </a:r>
            <a:endParaRPr lang="en-US" sz="1600" dirty="0"/>
          </a:p>
        </p:txBody>
      </p:sp>
      <p:pic>
        <p:nvPicPr>
          <p:cNvPr id="15" name="check-5-icono" descr="preencoded.png">    </p:cNvPr>
          <p:cNvPicPr>
            <a:picLocks noChangeAspect="1"/>
          </p:cNvPicPr>
          <p:nvPr/>
        </p:nvPicPr>
        <p:blipFill>
          <a:blip r:embed="rId5"/>
          <a:stretch>
            <a:fillRect/>
          </a:stretch>
        </p:blipFill>
        <p:spPr>
          <a:xfrm>
            <a:off x="4389120" y="4553712"/>
            <a:ext cx="411480" cy="411480"/>
          </a:xfrm>
          <a:prstGeom prst="rect">
            <a:avLst/>
          </a:prstGeom>
        </p:spPr>
      </p:pic>
      <p:sp>
        <p:nvSpPr>
          <p:cNvPr id="16" name="check-5-texto"/>
          <p:cNvSpPr txBox="1"/>
          <p:nvPr/>
        </p:nvSpPr>
        <p:spPr>
          <a:xfrm>
            <a:off x="5029200" y="4480560"/>
            <a:ext cx="6583680" cy="548640"/>
          </a:xfrm>
          <a:prstGeom prst="rect">
            <a:avLst/>
          </a:prstGeom>
          <a:noFill/>
          <a:ln/>
        </p:spPr>
        <p:txBody>
          <a:bodyPr wrap="square" lIns="0" tIns="0" rIns="0" bIns="0" rtlCol="0" anchor="ctr"/>
          <a:lstStyle/>
          <a:p>
            <a:pPr indent="0" marL="0">
              <a:buNone/>
            </a:pPr>
            <a:r>
              <a:rPr lang="en-US" sz="1600" dirty="0">
                <a:solidFill>
                  <a:schemeClr val="tx1"/>
                </a:solidFill>
              </a:rPr>
              <a:t>Abstención correcta ante consultas fuera del manual</a:t>
            </a:r>
            <a:endParaRPr lang="en-US" sz="1600" dirty="0"/>
          </a:p>
        </p:txBody>
      </p:sp>
      <p:sp>
        <p:nvSpPr>
          <p:cNvPr id="17" name="preguntas-label"/>
          <p:cNvSpPr txBox="1"/>
          <p:nvPr/>
        </p:nvSpPr>
        <p:spPr>
          <a:xfrm>
            <a:off x="548640" y="5532120"/>
            <a:ext cx="1371600" cy="411480"/>
          </a:xfrm>
          <a:prstGeom prst="rect">
            <a:avLst/>
          </a:prstGeom>
          <a:noFill/>
          <a:ln/>
        </p:spPr>
        <p:txBody>
          <a:bodyPr wrap="square" lIns="0" tIns="0" rIns="0" bIns="0" rtlCol="0" anchor="ctr"/>
          <a:lstStyle/>
          <a:p>
            <a:pPr indent="0" marL="0">
              <a:buNone/>
            </a:pPr>
            <a:r>
              <a:rPr lang="en-US" sz="1500" b="1" dirty="0">
                <a:solidFill>
                  <a:schemeClr val="tx2"/>
                </a:solidFill>
              </a:rPr>
              <a:t>Preguntas</a:t>
            </a:r>
            <a:endParaRPr lang="en-US" sz="1500" dirty="0"/>
          </a:p>
        </p:txBody>
      </p:sp>
      <p:sp>
        <p:nvSpPr>
          <p:cNvPr id="18" name="pregunta-1"/>
          <p:cNvSpPr/>
          <p:nvPr/>
        </p:nvSpPr>
        <p:spPr>
          <a:xfrm>
            <a:off x="1965960" y="5532120"/>
            <a:ext cx="1097280" cy="411480"/>
          </a:xfrm>
          <a:prstGeom prst="roundRect">
            <a:avLst>
              <a:gd name="adj" fmla="val 48889"/>
            </a:avLst>
          </a:prstGeom>
          <a:solidFill>
            <a:srgbClr val="E8F1EF"/>
          </a:solidFill>
          <a:ln/>
        </p:spPr>
      </p:sp>
      <p:sp>
        <p:nvSpPr>
          <p:cNvPr id="19" name="pregunta-1-texto"/>
          <p:cNvSpPr txBox="1"/>
          <p:nvPr/>
        </p:nvSpPr>
        <p:spPr>
          <a:xfrm>
            <a:off x="1965960" y="5532120"/>
            <a:ext cx="1097280" cy="411480"/>
          </a:xfrm>
          <a:prstGeom prst="rect">
            <a:avLst/>
          </a:prstGeom>
          <a:noFill/>
          <a:ln/>
        </p:spPr>
        <p:txBody>
          <a:bodyPr wrap="square" lIns="0" tIns="0" rIns="0" bIns="0" rtlCol="0" anchor="ctr"/>
          <a:lstStyle/>
          <a:p>
            <a:pPr algn="ctr" indent="0" marL="0">
              <a:buNone/>
            </a:pPr>
            <a:r>
              <a:rPr lang="en-US" sz="1400" b="1" dirty="0">
                <a:solidFill>
                  <a:schemeClr val="accent1"/>
                </a:solidFill>
              </a:rPr>
              <a:t>Tools</a:t>
            </a:r>
            <a:endParaRPr lang="en-US" sz="1400" dirty="0"/>
          </a:p>
        </p:txBody>
      </p:sp>
      <p:sp>
        <p:nvSpPr>
          <p:cNvPr id="20" name="pregunta-2"/>
          <p:cNvSpPr/>
          <p:nvPr/>
        </p:nvSpPr>
        <p:spPr>
          <a:xfrm>
            <a:off x="3246120" y="5532120"/>
            <a:ext cx="1371600" cy="411480"/>
          </a:xfrm>
          <a:prstGeom prst="roundRect">
            <a:avLst>
              <a:gd name="adj" fmla="val 48889"/>
            </a:avLst>
          </a:prstGeom>
          <a:solidFill>
            <a:srgbClr val="E8F1EF"/>
          </a:solidFill>
          <a:ln/>
        </p:spPr>
      </p:sp>
      <p:sp>
        <p:nvSpPr>
          <p:cNvPr id="21" name="pregunta-2-texto"/>
          <p:cNvSpPr txBox="1"/>
          <p:nvPr/>
        </p:nvSpPr>
        <p:spPr>
          <a:xfrm>
            <a:off x="3246120" y="5532120"/>
            <a:ext cx="1371600" cy="411480"/>
          </a:xfrm>
          <a:prstGeom prst="rect">
            <a:avLst/>
          </a:prstGeom>
          <a:noFill/>
          <a:ln/>
        </p:spPr>
        <p:txBody>
          <a:bodyPr wrap="square" lIns="0" tIns="0" rIns="0" bIns="0" rtlCol="0" anchor="ctr"/>
          <a:lstStyle/>
          <a:p>
            <a:pPr algn="ctr" indent="0" marL="0">
              <a:buNone/>
            </a:pPr>
            <a:r>
              <a:rPr lang="en-US" sz="1400" b="1" dirty="0">
                <a:solidFill>
                  <a:schemeClr val="accent1"/>
                </a:solidFill>
              </a:rPr>
              <a:t>Contexto</a:t>
            </a:r>
            <a:endParaRPr lang="en-US" sz="1400" dirty="0"/>
          </a:p>
        </p:txBody>
      </p:sp>
      <p:sp>
        <p:nvSpPr>
          <p:cNvPr id="22" name="pregunta-3"/>
          <p:cNvSpPr/>
          <p:nvPr/>
        </p:nvSpPr>
        <p:spPr>
          <a:xfrm>
            <a:off x="4800600" y="5532120"/>
            <a:ext cx="1371600" cy="411480"/>
          </a:xfrm>
          <a:prstGeom prst="roundRect">
            <a:avLst>
              <a:gd name="adj" fmla="val 48889"/>
            </a:avLst>
          </a:prstGeom>
          <a:solidFill>
            <a:srgbClr val="E8F1EF"/>
          </a:solidFill>
          <a:ln/>
        </p:spPr>
      </p:sp>
      <p:sp>
        <p:nvSpPr>
          <p:cNvPr id="23" name="pregunta-3-texto"/>
          <p:cNvSpPr txBox="1"/>
          <p:nvPr/>
        </p:nvSpPr>
        <p:spPr>
          <a:xfrm>
            <a:off x="4800600" y="5532120"/>
            <a:ext cx="1371600" cy="411480"/>
          </a:xfrm>
          <a:prstGeom prst="rect">
            <a:avLst/>
          </a:prstGeom>
          <a:noFill/>
          <a:ln/>
        </p:spPr>
        <p:txBody>
          <a:bodyPr wrap="square" lIns="0" tIns="0" rIns="0" bIns="0" rtlCol="0" anchor="ctr"/>
          <a:lstStyle/>
          <a:p>
            <a:pPr algn="ctr" indent="0" marL="0">
              <a:buNone/>
            </a:pPr>
            <a:r>
              <a:rPr lang="en-US" sz="1400" b="1" dirty="0">
                <a:solidFill>
                  <a:schemeClr val="accent1"/>
                </a:solidFill>
              </a:rPr>
              <a:t>Historial</a:t>
            </a:r>
            <a:endParaRPr lang="en-US" sz="1400" dirty="0"/>
          </a:p>
        </p:txBody>
      </p:sp>
      <p:sp>
        <p:nvSpPr>
          <p:cNvPr id="24" name="pregunta-4"/>
          <p:cNvSpPr/>
          <p:nvPr/>
        </p:nvSpPr>
        <p:spPr>
          <a:xfrm>
            <a:off x="6355080" y="5532120"/>
            <a:ext cx="2011680" cy="411480"/>
          </a:xfrm>
          <a:prstGeom prst="roundRect">
            <a:avLst>
              <a:gd name="adj" fmla="val 48889"/>
            </a:avLst>
          </a:prstGeom>
          <a:solidFill>
            <a:srgbClr val="E8F1EF"/>
          </a:solidFill>
          <a:ln/>
        </p:spPr>
      </p:sp>
      <p:sp>
        <p:nvSpPr>
          <p:cNvPr id="25" name="pregunta-4-texto"/>
          <p:cNvSpPr txBox="1"/>
          <p:nvPr/>
        </p:nvSpPr>
        <p:spPr>
          <a:xfrm>
            <a:off x="6355080" y="5532120"/>
            <a:ext cx="2011680" cy="411480"/>
          </a:xfrm>
          <a:prstGeom prst="rect">
            <a:avLst/>
          </a:prstGeom>
          <a:noFill/>
          <a:ln/>
        </p:spPr>
        <p:txBody>
          <a:bodyPr wrap="square" lIns="0" tIns="0" rIns="0" bIns="0" rtlCol="0" anchor="ctr"/>
          <a:lstStyle/>
          <a:p>
            <a:pPr algn="ctr" indent="0" marL="0">
              <a:buNone/>
            </a:pPr>
            <a:r>
              <a:rPr lang="en-US" sz="1400" b="1" dirty="0">
                <a:solidFill>
                  <a:schemeClr val="accent1"/>
                </a:solidFill>
              </a:rPr>
              <a:t>Servidor remoto</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0"/>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AsistenteReg">
  <a:themeElements>
    <a:clrScheme name="AsistenteReg">
      <a:dk1>
        <a:srgbClr val="1B2A2F"/>
      </a:dk1>
      <a:lt1>
        <a:srgbClr val="FFFFFF"/>
      </a:lt1>
      <a:dk2>
        <a:srgbClr val="12343B"/>
      </a:dk2>
      <a:lt2>
        <a:srgbClr val="E8F1EF"/>
      </a:lt2>
      <a:accent1>
        <a:srgbClr val="1F6F6B"/>
      </a:accent1>
      <a:accent2>
        <a:srgbClr val="E3A33A"/>
      </a:accent2>
      <a:accent3>
        <a:srgbClr val="2E8B57"/>
      </a:accent3>
      <a:accent4>
        <a:srgbClr val="C0473A"/>
      </a:accent4>
      <a:accent5>
        <a:srgbClr val="7FA8A3"/>
      </a:accent5>
      <a:accent6>
        <a:srgbClr val="5B6B70"/>
      </a:accent6>
      <a:hlink>
        <a:srgbClr val="1F6F6B"/>
      </a:hlink>
      <a:folHlink>
        <a:srgbClr val="5B6B70"/>
      </a:folHlink>
    </a:clrScheme>
    <a:fontScheme name="AsistenteRe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AsistenteReg EP2</dc:title>
  <dc:subject>PptxGenJS Presentation</dc:subject>
  <dc:creator>Martín Peña</dc:creator>
  <cp:lastModifiedBy>Martín Peña</cp:lastModifiedBy>
  <cp:revision>1</cp:revision>
  <dcterms:created xsi:type="dcterms:W3CDTF">2026-10-21T16:27:42Z</dcterms:created>
  <dcterms:modified xsi:type="dcterms:W3CDTF">2026-10-21T16:27:42Z</dcterms:modified>
</cp:coreProperties>
</file>